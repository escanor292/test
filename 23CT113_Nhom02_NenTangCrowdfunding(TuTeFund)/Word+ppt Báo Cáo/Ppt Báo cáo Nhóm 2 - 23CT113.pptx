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2200">
                <a:solidFill>
                  <a:srgbClr val="1F4E78"/>
                </a:solidFill>
              </a:defRPr>
            </a:pPr>
            <a:r>
              <a:t>BÁO CÁO TỔNG KẾT HỌC PHẦN KIỂM THỬ PHẦN MỀM</a:t>
            </a:r>
          </a:p>
          <a:p>
            <a:pPr>
              <a:defRPr b="1" sz="1600"/>
            </a:pPr>
            <a:r>
              <a:t>Đề tài: Nền tảng Crowdfunding gây quỹ cộng đồng (Tử Tế Fund)</a:t>
            </a:r>
          </a:p>
          <a:p>
            <a:pPr>
              <a:defRPr sz="1300"/>
            </a:pPr>
            <a:r>
              <a:t>Lớp: 23CT113 — Nhóm: Nhóm 02</a:t>
            </a:r>
          </a:p>
          <a:p>
            <a:pPr>
              <a:defRPr sz="1100"/>
            </a:pPr>
            <a:r>
              <a:t>Tác giả: Nguyễn Quách Phú Tài (Nhóm trưởng), Trần Xuân Ân, Bùi Đặng Quốc Khánh, Nguyễn Trung Tiến, Nguyễn Khánh Du</a:t>
            </a:r>
          </a:p>
          <a:p>
            <a:pPr>
              <a:defRPr i="1" sz="1200">
                <a:solidFill>
                  <a:srgbClr val="505050"/>
                </a:solidFill>
              </a:defRPr>
            </a:pPr>
            <a:r>
              <a:t>Giảng viên hướng dẫn: ThS. Nguyễn Minh Phúc</a:t>
            </a:r>
          </a:p>
          <a:p>
            <a:pPr>
              <a:defRPr sz="1050"/>
            </a:pPr>
            <a:r>
              <a:t>Thời gian: 30/10/2026 | Web Demo: https://test-gamma-azure-65.vercel.app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24000"/>
            <a:ext cx="8243999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Times New Roman"/>
              </a:rPr>
              <a:t>Thành viên nhóm và phân công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6552000"/>
            <a:ext cx="8243999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404040"/>
                </a:solidFill>
                <a:latin typeface="Times New Roman"/>
              </a:rPr>
              <a:t>Kiểm thử phần mềm – Nhóm 02 – 23CT113 – Tử Tế Fund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0000" y="1224000"/>
          <a:ext cx="8243998" cy="34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7999"/>
                <a:gridCol w="2355428"/>
                <a:gridCol w="3140571"/>
              </a:tblGrid>
              <a:tr h="57000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</a:rPr>
                        <a:t>Họ và tên</a:t>
                      </a:r>
                    </a:p>
                  </a:txBody>
                  <a:tcPr>
                    <a:solidFill>
                      <a:srgbClr val="1F3B6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</a:rPr>
                        <a:t>Vai trò</a:t>
                      </a:r>
                    </a:p>
                  </a:txBody>
                  <a:tcPr>
                    <a:solidFill>
                      <a:srgbClr val="1F3B6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</a:rPr>
                        <a:t>Phụ trách</a:t>
                      </a:r>
                    </a:p>
                  </a:txBody>
                  <a:tcPr>
                    <a:solidFill>
                      <a:srgbClr val="1F3B63"/>
                    </a:solidFill>
                  </a:tcPr>
                </a:tc>
              </a:tr>
              <a:tr h="57000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latin typeface="Times New Roman"/>
                        </a:rPr>
                        <a:t>Nguyễn Quách Phú Tài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Times New Roman"/>
                        </a:rPr>
                        <a:t>Trưởng nhóm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Times New Roman"/>
                        </a:rPr>
                        <a:t>Điều phối, module Login</a:t>
                      </a:r>
                    </a:p>
                  </a:txBody>
                  <a:tcPr anchor="ctr"/>
                </a:tc>
              </a:tr>
              <a:tr h="57000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latin typeface="Times New Roman"/>
                        </a:rPr>
                        <a:t>Bùi Đặng Quốc Khánh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Times New Roman"/>
                        </a:rPr>
                        <a:t>Viết Test Case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Times New Roman"/>
                        </a:rPr>
                        <a:t>Module Reward</a:t>
                      </a:r>
                    </a:p>
                  </a:txBody>
                  <a:tcPr anchor="ctr"/>
                </a:tc>
              </a:tr>
              <a:tr h="57000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latin typeface="Times New Roman"/>
                        </a:rPr>
                        <a:t>Nguyễn Trung Tiến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Times New Roman"/>
                        </a:rPr>
                        <a:t>Thực thi kiểm thử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Times New Roman"/>
                        </a:rPr>
                        <a:t>Module Blog</a:t>
                      </a:r>
                    </a:p>
                  </a:txBody>
                  <a:tcPr anchor="ctr"/>
                </a:tc>
              </a:tr>
              <a:tr h="57000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latin typeface="Times New Roman"/>
                        </a:rPr>
                        <a:t>Trần Xuân Ân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Times New Roman"/>
                        </a:rPr>
                        <a:t>Thực thi kiểm thử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Times New Roman"/>
                        </a:rPr>
                        <a:t>Module Campaign</a:t>
                      </a:r>
                    </a:p>
                  </a:txBody>
                  <a:tcPr anchor="ctr"/>
                </a:tc>
              </a:tr>
              <a:tr h="57000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latin typeface="Times New Roman"/>
                        </a:rPr>
                        <a:t>Nguyễn Khánh Du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Times New Roman"/>
                        </a:rPr>
                        <a:t>Lập Test Report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Times New Roman"/>
                        </a:rPr>
                        <a:t>Module KYC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24000"/>
            <a:ext cx="8243999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Times New Roman"/>
              </a:rPr>
              <a:t>Tổng quan dự án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6552000"/>
            <a:ext cx="8243999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404040"/>
                </a:solidFill>
                <a:latin typeface="Times New Roman"/>
              </a:rPr>
              <a:t>Kiểm thử phần mềm – Nhóm 02 – 23CT113 – Tử Tế Fund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080000"/>
            <a:ext cx="8243999" cy="5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• Tử Tế Fund – nền tảng crowdfunding: tạo chiến dịch, đóng góp, nhận reward</a:t>
            </a:r>
          </a:p>
          <a:p>
            <a:pPr>
              <a:spcAft>
                <a:spcPts val="9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• Các module chính: Login, Reward, Blog, Campaign, KYC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404040"/>
                </a:solidFill>
                <a:latin typeface="Times New Roman"/>
              </a:rPr>
              <a:t>– Công nghệ: Next.js 15 + Prisma/PostgreSQL, triển khai Vercel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404040"/>
                </a:solidFill>
                <a:latin typeface="Times New Roman"/>
              </a:rPr>
              <a:t>– Môi trường test: Windows 10/11, Chrome/Edge mới nhất, demo + local</a:t>
            </a:r>
          </a:p>
          <a:p>
            <a:pPr>
              <a:spcAft>
                <a:spcPts val="9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• Mục tiêu: kiểm thử thủ công toàn bộ 5 module và đánh giá mức độ hoàn thiện</a:t>
            </a:r>
          </a:p>
          <a:p>
            <a:pPr>
              <a:spcAft>
                <a:spcPts val="9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• Quy trình: Test Plan → Thiết kế Test Case → Thực thi → Test Report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24000"/>
            <a:ext cx="8243999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Times New Roman"/>
              </a:rPr>
              <a:t>Phạm vi kiểm thử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6552000"/>
            <a:ext cx="8243999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404040"/>
                </a:solidFill>
                <a:latin typeface="Times New Roman"/>
              </a:rPr>
              <a:t>Kiểm thử phần mềm – Nhóm 02 – 23CT113 – Tử Tế Fund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0000" y="1152000"/>
          <a:ext cx="8243997" cy="309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2699"/>
                <a:gridCol w="1030499"/>
                <a:gridCol w="5770799"/>
              </a:tblGrid>
              <a:tr h="5160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Times New Roman"/>
                        </a:rPr>
                        <a:t>Module</a:t>
                      </a:r>
                    </a:p>
                  </a:txBody>
                  <a:tcPr>
                    <a:solidFill>
                      <a:srgbClr val="1F3B6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Times New Roman"/>
                        </a:rPr>
                        <a:t>Số TC</a:t>
                      </a:r>
                    </a:p>
                  </a:txBody>
                  <a:tcPr>
                    <a:solidFill>
                      <a:srgbClr val="1F3B6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Times New Roman"/>
                        </a:rPr>
                        <a:t>Nội dung kiểm thử</a:t>
                      </a:r>
                    </a:p>
                  </a:txBody>
                  <a:tcPr>
                    <a:solidFill>
                      <a:srgbClr val="1F3B63"/>
                    </a:solidFill>
                  </a:tcPr>
                </a:tc>
              </a:tr>
              <a:tr h="51600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latin typeface="Times New Roman"/>
                        </a:rPr>
                        <a:t>Login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latin typeface="Times New Roman"/>
                        </a:rPr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latin typeface="Times New Roman"/>
                        </a:rPr>
                        <a:t>Đăng nhập, sai mật khẩu, remember me, logout, validation</a:t>
                      </a:r>
                    </a:p>
                  </a:txBody>
                  <a:tcPr anchor="ctr"/>
                </a:tc>
              </a:tr>
              <a:tr h="51600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latin typeface="Times New Roman"/>
                        </a:rPr>
                        <a:t>Reward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latin typeface="Times New Roman"/>
                        </a:rPr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latin typeface="Times New Roman"/>
                        </a:rPr>
                        <a:t>Tạo/sửa/xóa reward, giá âm, số lượng giới hạn</a:t>
                      </a:r>
                    </a:p>
                  </a:txBody>
                  <a:tcPr anchor="ctr"/>
                </a:tc>
              </a:tr>
              <a:tr h="51600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latin typeface="Times New Roman"/>
                        </a:rPr>
                        <a:t>Blog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latin typeface="Times New Roman"/>
                        </a:rPr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latin typeface="Times New Roman"/>
                        </a:rPr>
                        <a:t>Tạo/sửa/xóa bài, upload ảnh, thứ tự hiển thị</a:t>
                      </a:r>
                    </a:p>
                  </a:txBody>
                  <a:tcPr anchor="ctr"/>
                </a:tc>
              </a:tr>
              <a:tr h="51600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latin typeface="Times New Roman"/>
                        </a:rPr>
                        <a:t>Campaign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latin typeface="Times New Roman"/>
                        </a:rPr>
                        <a:t>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latin typeface="Times New Roman"/>
                        </a:rPr>
                        <a:t>Tạo/sửa campaign, tìm kiếm, trạng thái, tiến độ</a:t>
                      </a:r>
                    </a:p>
                  </a:txBody>
                  <a:tcPr anchor="ctr"/>
                </a:tc>
              </a:tr>
              <a:tr h="51600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latin typeface="Times New Roman"/>
                        </a:rPr>
                        <a:t>KYC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latin typeface="Times New Roman"/>
                        </a:rPr>
                        <a:t>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latin typeface="Times New Roman"/>
                        </a:rPr>
                        <a:t>Upload JPG/PDF, admin duyệt/từ chối, thông báo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0000" y="4464000"/>
            <a:ext cx="8243999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• Ngoài phạm vi: đăng ký/quên mật khẩu, thanh toán thật, module quản trị mở rộng, kiểm thử hiệu năng lớn và pentest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24000"/>
            <a:ext cx="8243999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Times New Roman"/>
              </a:rPr>
              <a:t>Test Plan – Mục tiêu &amp; tiêu chí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6552000"/>
            <a:ext cx="8243999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404040"/>
                </a:solidFill>
                <a:latin typeface="Times New Roman"/>
              </a:rPr>
              <a:t>Kiểm thử phần mềm – Nhóm 02 – 23CT113 – Tử Tế Fund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080000"/>
            <a:ext cx="8243999" cy="165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b="1" sz="1400"/>
            </a:pPr>
            <a:r>
              <a:t>Mục tiêu kiểm thử &amp; Ba làn thực thi (Test Execution Lines):</a:t>
            </a:r>
          </a:p>
          <a:p>
            <a:pPr>
              <a:defRPr sz="1200"/>
            </a:pPr>
            <a:r>
              <a:t>• Phương pháp: Hộp đen kết hợp kiểm tra mã nguồn (Functional, Boundary, Negative, LooknFeel)</a:t>
            </a:r>
          </a:p>
          <a:p>
            <a:pPr>
              <a:defRPr sz="1200"/>
            </a:pPr>
            <a:r>
              <a:t>• Làn 1 (HTTP API): Kiểm tra mã trạng thái HTTP, xác thực JWT, phân quyền RBAC và endpoint 410</a:t>
            </a:r>
          </a:p>
          <a:p>
            <a:pPr>
              <a:defRPr sz="1200"/>
            </a:pPr>
            <a:r>
              <a:t>• Làn 2 (Browser UI): Dùng Playwright Chromium chụp ảnh bằng chứng lưu thư mục evidence/</a:t>
            </a:r>
          </a:p>
          <a:p>
            <a:pPr>
              <a:defRPr sz="1200"/>
            </a:pPr>
            <a:r>
              <a:t>• Làn 3 (DB &amp; Jest): Chạy 44 suites (303 unit tests passed), đối soát Prisma CSDL Neon</a:t>
            </a:r>
          </a:p>
          <a:p>
            <a:pPr>
              <a:defRPr sz="1200"/>
            </a:pPr>
            <a:r>
              <a:t>• Mục tiêu chất lượng: Đạt tỷ lệ PASS ≥ 85.0% trên số TC đã chạy thực tế</a:t>
            </a:r>
          </a:p>
          <a:p>
            <a:pPr>
              <a:defRPr sz="1200"/>
            </a:pPr>
            <a:r>
              <a:t>• Dữ liệu kiểm thử: 4 tài khoản seed chính thức đã xác minh đăng nhập thành công 100%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2880000"/>
            <a:ext cx="8243999" cy="3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333333"/>
                </a:solidFill>
              </a:defRPr>
            </a:pPr>
            <a:r>
              <a:t>• Mục tiêu chất lượng &amp; Tiêu chí hoàn thành kiểm thử:</a:t>
            </a:r>
            <a:br/>
            <a:r>
              <a:t>  – Bao phủ 100% 42 Yêu cầu kiểm thử (TRs) bằng ít nhất một test case</a:t>
            </a:r>
            <a:br/>
            <a:r>
              <a:t>  – Thực thi 93 / 105 Test Cases (đạt 88.6% kế hoạch thực thi)</a:t>
            </a:r>
            <a:br/>
            <a:r>
              <a:t>  – Tỷ lệ ca kiểm thử đạt (PASS Rate): 95.7% trên các ca đã thực thi (89 PASS / 4 FAIL)</a:t>
            </a:r>
            <a:br/>
            <a:r>
              <a:t>  – 12 ca kiểm thử để trống do phụ thuộc môi trường bên ngoài (tiền thật, SMS, 30 phút, camera eKYC)</a:t>
            </a:r>
            <a:br/>
            <a:r>
              <a:t>  – Ghi nhận và phân tích chi tiết 4 lỗi thực tế (Bugs) phục vụ nâng cấp hệ thống.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24000"/>
            <a:ext cx="8243999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Times New Roman"/>
              </a:rPr>
              <a:t>Thiết kế Test 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6552000"/>
            <a:ext cx="8243999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404040"/>
                </a:solidFill>
                <a:latin typeface="Times New Roman"/>
              </a:rPr>
              <a:t>Kiểm thử phần mềm – Nhóm 02 – 23CT113 – Tử Tế Fund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080000"/>
            <a:ext cx="8243999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b="1" sz="1400"/>
            </a:pPr>
            <a:r>
              <a:t>Thiết kế Yêu cầu (TR) và Kịch bản kiểm thử (TC):</a:t>
            </a:r>
          </a:p>
          <a:p>
            <a:pPr>
              <a:defRPr sz="1200"/>
            </a:pPr>
            <a:r>
              <a:t>• Tổng số Yêu cầu kiểm thử: 42 TRs (suy ra trực tiếp từ route, API và schema)</a:t>
            </a:r>
          </a:p>
          <a:p>
            <a:pPr>
              <a:defRPr sz="1200"/>
            </a:pPr>
            <a:r>
              <a:t>• Tổng số Kịch bản kiểm thử: 105 TCs (mỗi TR có từ 2-3 TC cụ thể, đo lường được)</a:t>
            </a:r>
          </a:p>
          <a:p>
            <a:pPr>
              <a:defRPr sz="1200"/>
            </a:pPr>
            <a:r>
              <a:t>• Phân bổ độ ưu tiên: 56 High (P0 luồng chính), 36 Medium (nghiệp vụ biên), 13 Low (UI/UX)</a:t>
            </a:r>
          </a:p>
          <a:p>
            <a:pPr>
              <a:defRPr sz="1200"/>
            </a:pPr>
            <a:r>
              <a:t>• Không sử dụng user story chung chung, không sinh test case bằng vòng lặp rác</a:t>
            </a:r>
          </a:p>
          <a:p>
            <a:pPr>
              <a:defRPr sz="1200"/>
            </a:pPr>
            <a:r>
              <a:t>• Dữ liệu kiểm thử, tiền điều kiện và kết quả mong đợi được lấy từ mã nguồn thật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2011680"/>
          <a:ext cx="768096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005840"/>
                <a:gridCol w="1005840"/>
                <a:gridCol w="1005840"/>
                <a:gridCol w="1005840"/>
                <a:gridCol w="1005840"/>
                <a:gridCol w="1005840"/>
              </a:tblGrid>
              <a:tr h="342900">
                <a:tc>
                  <a:txBody>
                    <a:bodyPr/>
                    <a:lstStyle/>
                    <a:p>
                      <a:pPr algn="l">
                        <a:defRPr sz="1100" b="1"/>
                      </a:pPr>
                      <a:r>
                        <a:t>Phân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1"/>
                      </a:pPr>
                      <a:r>
                        <a:t>Số TR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1"/>
                      </a:pPr>
                      <a:r>
                        <a:t>Số TC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1"/>
                      </a:pPr>
                      <a:r>
                        <a:t>Đã chạy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1"/>
                      </a:pPr>
                      <a:r>
                        <a:t>PASS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1"/>
                      </a:pPr>
                      <a:r>
                        <a:t>FAIL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1"/>
                      </a:pPr>
                      <a:r>
                        <a:t>Chưa chạy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pPr algn="l">
                        <a:defRPr sz="1100"/>
                      </a:pPr>
                      <a:r>
                        <a:t>AUTH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2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pPr algn="l">
                        <a:defRPr sz="1100"/>
                      </a:pPr>
                      <a:r>
                        <a:t>KYC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1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pPr algn="l">
                        <a:defRPr sz="1100"/>
                      </a:pPr>
                      <a:r>
                        <a:t>CAMP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1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pPr algn="l">
                        <a:defRPr sz="1100"/>
                      </a:pPr>
                      <a:r>
                        <a:t>REWARD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1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pPr algn="l">
                        <a:defRPr sz="1100"/>
                      </a:pPr>
                      <a:r>
                        <a:t>PLEDGE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2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pPr algn="l">
                        <a:defRPr sz="1100"/>
                      </a:pPr>
                      <a:r>
                        <a:t>CERT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1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pPr algn="l">
                        <a:defRPr sz="1100"/>
                      </a:pPr>
                      <a:r>
                        <a:t>COMM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1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pPr algn="l">
                        <a:defRPr sz="1100"/>
                      </a:pPr>
                      <a:r>
                        <a:t>BLOG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1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pPr algn="l">
                        <a:defRPr sz="1100"/>
                      </a:pPr>
                      <a:r>
                        <a:t>CHAT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1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pPr algn="l">
                        <a:defRPr sz="1100"/>
                      </a:pPr>
                      <a:r>
                        <a:t>ADMIN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1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pPr algn="l">
                        <a:defRPr sz="1100" b="1"/>
                      </a:pPr>
                      <a:r>
                        <a:t>TỔNG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1"/>
                      </a:pPr>
                      <a:r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1"/>
                      </a:pPr>
                      <a:r>
                        <a:t>105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1"/>
                      </a:pPr>
                      <a:r>
                        <a:t>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1"/>
                      </a:pPr>
                      <a:r>
                        <a:t>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1"/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1"/>
                      </a:pPr>
                      <a:r>
                        <a:t>12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24000"/>
            <a:ext cx="8243999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1F4E78"/>
                </a:solidFill>
              </a:defRPr>
            </a:pPr>
            <a:r>
              <a:t>Tổng kết Kết quả Thực thi Kiểm thử Thực tế:</a:t>
            </a:r>
          </a:p>
          <a:p>
            <a:pPr>
              <a:defRPr sz="1250"/>
            </a:pPr>
            <a:r>
              <a:t>• Tổng số TC đã chạy: 93 / 105 TCs (đạt 88.6% kế hoạch thực thi)</a:t>
            </a:r>
          </a:p>
          <a:p>
            <a:pPr>
              <a:defRPr sz="1250"/>
            </a:pPr>
            <a:r>
              <a:t>• Số ca kiểm thử ĐẠT (PASS): 89 TCs (chiếm 95.7% số ca đã chạy)</a:t>
            </a:r>
          </a:p>
          <a:p>
            <a:pPr>
              <a:defRPr sz="1250"/>
            </a:pPr>
            <a:r>
              <a:t>• Số ca kiểm thử KHÔNG ĐẠT (FAIL): 4 TCs (chiếm 4.3% số ca đã chạy)</a:t>
            </a:r>
          </a:p>
          <a:p>
            <a:pPr>
              <a:defRPr sz="1250"/>
            </a:pPr>
            <a:r>
              <a:t>• Số ca kiểm thử CHƯA CHẠY: 12 TCs (để trống kết quả minh bạch do giới hạn thiết bị/thanh toán thật)</a:t>
            </a:r>
          </a:p>
          <a:p>
            <a:pPr>
              <a:defRPr sz="1250"/>
            </a:pPr>
            <a:r>
              <a:t>• Tỷ lệ PASS trên số đã chạy: 95.7% (Đạt và vượt chỉ tiêu chất lượng ≥ 85.0%)</a:t>
            </a:r>
          </a:p>
          <a:p>
            <a:pPr>
              <a:defRPr sz="1250"/>
            </a:pPr>
            <a:r>
              <a:t>• Độ bao phủ yêu cầu kiểm thử: 42 / 42 TRs (Đạt 100% độ bao phủ TR)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6552000"/>
            <a:ext cx="8243999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404040"/>
                </a:solidFill>
                <a:latin typeface="Times New Roman"/>
              </a:rPr>
              <a:t>Kiểm thử phần mềm – Nhóm 02 – 23CT113 – Tử Tế Fund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24000"/>
            <a:ext cx="8243999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1F4E78"/>
                </a:solidFill>
              </a:defRPr>
            </a:pPr>
            <a:r>
              <a:t>Báo cáo Lỗi Thực tế (Bugs sinh từ FAIL):</a:t>
            </a:r>
          </a:p>
          <a:p>
            <a:pPr>
              <a:defRPr sz="1200"/>
            </a:pPr>
            <a:r>
              <a:t>• BUG-001 (High): Cổng MoMo trả HTTP 410 ESCROW_BANK_ONLY do tắt ví điện tử</a:t>
            </a:r>
          </a:p>
          <a:p>
            <a:pPr>
              <a:defRPr sz="1200"/>
            </a:pPr>
            <a:r>
              <a:t>• BUG-002 (High): Cổng VNPay trả HTTP 410 ESCROW_BANK_ONLY do đóng cổng trung gian</a:t>
            </a:r>
          </a:p>
          <a:p>
            <a:pPr>
              <a:defRPr sz="1200"/>
            </a:pPr>
            <a:r>
              <a:t>• BUG-003 (Medium): Truyền tín hiệu cuộc gọi P2P dùng Polling 1.2s thay vì WebSocket</a:t>
            </a:r>
          </a:p>
          <a:p>
            <a:pPr>
              <a:defRPr sz="1200"/>
            </a:pPr>
            <a:r>
              <a:t>• BUG-004 (Low): Form góp ý /gop-y thiếu validate trực tiếp trên client, gửi &lt; 10 ký tự nhận lỗi 400</a:t>
            </a:r>
          </a:p>
          <a:p>
            <a:pPr>
              <a:defRPr sz="1200"/>
            </a:pPr>
            <a:r>
              <a:t>• Tất cả 4 lỗi đều được kiểm chứng bằng lệnh curl hoặc log mã nguồn thực tế</a:t>
            </a:r>
          </a:p>
          <a:p>
            <a:pPr>
              <a:defRPr sz="1200"/>
            </a:pPr>
            <a:r>
              <a:t>• Đề xuất: Ẩn nút ví điện tử trên UI, bổ sung WebSocket và validate realtime client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6552000"/>
            <a:ext cx="8243999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404040"/>
                </a:solidFill>
                <a:latin typeface="Times New Roman"/>
              </a:rPr>
              <a:t>Kiểm thử phần mềm – Nhóm 02 – 23CT113 – Tử Tế Fund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3840480"/>
          <a:ext cx="768096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005840"/>
                <a:gridCol w="1188720"/>
                <a:gridCol w="4389120"/>
              </a:tblGrid>
              <a:tr h="402336">
                <a:tc>
                  <a:txBody>
                    <a:bodyPr/>
                    <a:lstStyle/>
                    <a:p>
                      <a:pPr algn="ctr">
                        <a:defRPr sz="1100" b="1"/>
                      </a:pPr>
                      <a:r>
                        <a:t>Mã Bug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1"/>
                      </a:pPr>
                      <a:r>
                        <a:t>Mức độ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1"/>
                      </a:pPr>
                      <a:r>
                        <a:t>Phân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1"/>
                      </a:pPr>
                      <a:r>
                        <a:t>Mô tả lỗi phát hiện</a:t>
                      </a:r>
                    </a:p>
                  </a:txBody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BUG-001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PLEDGE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API MoMo trả HTTP 410 ESCROW_BANK_ONLY nhưng Form thanh toán chưa ẩn nút</a:t>
                      </a:r>
                    </a:p>
                  </a:txBody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BUG-002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PLEDGE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API VNPAY trả HTTP 410 ESCROW_BANK_ONLY nhưng Form thanh toán chưa ẩn nút</a:t>
                      </a:r>
                    </a:p>
                  </a:txBody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BUG-003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CHAT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WebRTC Video Call dùng polling 1200ms thay vì WebSocket / Realtime SSE</a:t>
                      </a:r>
                    </a:p>
                  </a:txBody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BUG-004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COMM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API Feedback yêu cầu min 10 ký tự nhưng Form UI thiếu bộ đếm và validation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24000"/>
            <a:ext cx="8243999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1F4E78"/>
                </a:solidFill>
              </a:defRPr>
            </a:pPr>
            <a:r>
              <a:t>Ma trận Truy xuất Nguồn gốc (Traceability Matrix - RTM):</a:t>
            </a:r>
          </a:p>
          <a:p>
            <a:pPr>
              <a:defRPr sz="1200"/>
            </a:pPr>
            <a:r>
              <a:t>• Chuỗi truy xuất khép kín: Mã nguồn → 10 Nhóm FR → 42 TRs → 105 TCs → 4 BUGs</a:t>
            </a:r>
          </a:p>
          <a:p>
            <a:pPr>
              <a:defRPr sz="1200"/>
            </a:pPr>
            <a:r>
              <a:t>• 100% Yêu cầu kiểm thử (42 TRs) đều có từ 2 đến 3 Test Cases liên kết</a:t>
            </a:r>
          </a:p>
          <a:p>
            <a:pPr>
              <a:defRPr sz="1200"/>
            </a:pPr>
            <a:r>
              <a:t>• Mọi Test Case FAIL đều dẫn xuất trực tiếp ra mã Bug tương ứng</a:t>
            </a:r>
          </a:p>
          <a:p>
            <a:pPr>
              <a:defRPr sz="1200"/>
            </a:pPr>
            <a:r>
              <a:t>• Toàn bộ số liệu RTM được tính bằng công thức Excel tự động từ sheet TC List sang sheet RTM</a:t>
            </a:r>
          </a:p>
          <a:p>
            <a:pPr>
              <a:defRPr sz="1200"/>
            </a:pPr>
            <a:r>
              <a:t>• Bảo đảm tính nhất quán tuyệt đối giữa Dashboard, RTM, Test Plan và Test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6552000"/>
            <a:ext cx="8243999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404040"/>
                </a:solidFill>
                <a:latin typeface="Times New Roman"/>
              </a:rPr>
              <a:t>Kiểm thử phần mềm – Nhóm 02 – 23CT113 – Tử Tế Fund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24000"/>
            <a:ext cx="8243999" cy="4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333333"/>
                </a:solidFill>
              </a:defRPr>
            </a:pPr>
            <a:r>
              <a:t>• Ma trận Truy xuất Nguồn gốc (Traceability Matrix - RTM):</a:t>
            </a:r>
            <a:br/>
            <a:r>
              <a:t>  – Chuỗi truy xuất khép kín: Mã nguồn → 10 Nhóm FR → 42 TRs → 105 TCs</a:t>
            </a:r>
            <a:br/>
            <a:r>
              <a:t>  – 100% 42 Yêu cầu kiểm thử (TRs) có từ 2–3 Test Cases bao phủ</a:t>
            </a:r>
            <a:br/>
            <a:r>
              <a:t>  – 100% ca kiểm thử truy xuất được điểm vào (route/API) và ràng buộc mã nguồn cụ thể</a:t>
            </a:r>
            <a:br/>
            <a:r>
              <a:t>  – Độ bao phủ yêu cầu kiểm thử: 42 / 42 TRs đạt ít nhất 1 TC đã thực thi (Độ bao phủ: 100%).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24000"/>
            <a:ext cx="8243999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Times New Roman"/>
              </a:rPr>
              <a:t>Đánh giá và khuyến nghị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6552000"/>
            <a:ext cx="8243999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404040"/>
                </a:solidFill>
                <a:latin typeface="Times New Roman"/>
              </a:rPr>
              <a:t>Kiểm thử phần mềm – Nhóm 02 – 23CT113 – Tử Tế Fund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24000"/>
            <a:ext cx="8243999" cy="165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333333"/>
                </a:solidFill>
              </a:defRPr>
            </a:pPr>
            <a:r>
              <a:t>• Đánh giá chất lượng hệ thống Tử Tế Fund (Build Production v1.0):</a:t>
            </a:r>
            <a:br/>
            <a:r>
              <a:t>  – Các phân hệ nền tảng (Xác thực, KYC, Quản trị chiến dịch, Quà tặng, Admin) vận hành ổn định</a:t>
            </a:r>
            <a:br/>
            <a:r>
              <a:t>  – Dữ liệu đối soát minh bạch, tra cứu chứng nhận và hóa đơn chuẩn xác</a:t>
            </a:r>
            <a:br/>
            <a:r>
              <a:t>• Khuyến nghị nâng cấp phiên bản v1.1:</a:t>
            </a:r>
            <a:br/>
            <a:r>
              <a:t>  – Ẩn nút MoMo/VNPay trên UI khi áp dụng chính sách ký quỹ độc quyền VietinBank</a:t>
            </a:r>
            <a:br/>
            <a:r>
              <a:t>  – Nâng cấp WebRTC Signaling qua WebSocket thay vì Polling để tối ưu đàm thoại</a:t>
            </a:r>
            <a:br/>
            <a:r>
              <a:t>  – Bổ sung client-side validation và bộ đếm ký tự cho form đóng góp ý kiến.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2951999"/>
            <a:ext cx="8243999" cy="3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900"/>
              </a:spcAft>
            </a:pPr>
            <a:r>
              <a:rPr sz="1300" b="0">
                <a:solidFill>
                  <a:srgbClr val="404040"/>
                </a:solidFill>
                <a:latin typeface="Times New Roman"/>
              </a:rPr>
              <a:t>– Sửa nhóm lỗi Critical/High trong sprint tới, chạy lại (retest) ở build v1.1</a:t>
            </a:r>
          </a:p>
          <a:p>
            <a:pPr lvl="1">
              <a:spcAft>
                <a:spcPts val="900"/>
              </a:spcAft>
            </a:pPr>
            <a:r>
              <a:rPr sz="1300" b="0">
                <a:solidFill>
                  <a:srgbClr val="404040"/>
                </a:solidFill>
                <a:latin typeface="Times New Roman"/>
              </a:rPr>
              <a:t>– Bổ sung lớp validation dùng chung cho các form để tránh lặp lỗi giữa module</a:t>
            </a:r>
          </a:p>
          <a:p>
            <a:pPr lvl="1">
              <a:spcAft>
                <a:spcPts val="900"/>
              </a:spcAft>
            </a:pPr>
            <a:r>
              <a:rPr sz="1300" b="0">
                <a:solidFill>
                  <a:srgbClr val="404040"/>
                </a:solidFill>
                <a:latin typeface="Times New Roman"/>
              </a:rPr>
              <a:t>– Nối API/CSDL cho Blog, Campaign, KYC – điều kiện để đạt Pass 90%</a:t>
            </a:r>
          </a:p>
          <a:p>
            <a:pPr lvl="1">
              <a:spcAft>
                <a:spcPts val="900"/>
              </a:spcAft>
            </a:pPr>
            <a:r>
              <a:rPr sz="1300" b="0">
                <a:solidFill>
                  <a:srgbClr val="404040"/>
                </a:solidFill>
                <a:latin typeface="Times New Roman"/>
              </a:rPr>
              <a:t>– Thêm kiểm thử tự động Playwright cho các luồng must-have</a:t>
            </a:r>
          </a:p>
          <a:p>
            <a:pPr lvl="1">
              <a:spcAft>
                <a:spcPts val="900"/>
              </a:spcAft>
            </a:pPr>
            <a:r>
              <a:rPr sz="1300" b="0">
                <a:solidFill>
                  <a:srgbClr val="404040"/>
                </a:solidFill>
                <a:latin typeface="Times New Roman"/>
              </a:rPr>
              <a:t>– Cập nhật cột Retest Result trong Bug Log sau mỗi lần sửa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24000"/>
            <a:ext cx="8243999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1F4E78"/>
                </a:solidFill>
              </a:defRPr>
            </a:pPr>
            <a:r>
              <a:t>Kết luận và Đánh giá Nghiệm thu Đồ án:</a:t>
            </a:r>
          </a:p>
          <a:p>
            <a:pPr>
              <a:defRPr sz="1200"/>
            </a:pPr>
            <a:r>
              <a:t>• Hoàn thành trọn vẹn bộ tài liệu: Test Plan, Test Report, 105 TCs, 3 Biên bản họp, Timeline</a:t>
            </a:r>
          </a:p>
          <a:p>
            <a:pPr>
              <a:defRPr sz="1200"/>
            </a:pPr>
            <a:r>
              <a:t>• Kết quả thực tế đạt 95.7% PASS trên các ca kiểm thử đã thực thi (vượt chỉ tiêu ≥ 85.0%)</a:t>
            </a:r>
          </a:p>
          <a:p>
            <a:pPr>
              <a:defRPr sz="1200"/>
            </a:pPr>
            <a:r>
              <a:t>• 4 Bug Reports được phân loại rõ ràng giúp đội phát triển dễ dàng sửa lỗi trong sprint tới</a:t>
            </a:r>
          </a:p>
          <a:p>
            <a:pPr>
              <a:defRPr sz="1200"/>
            </a:pPr>
            <a:r>
              <a:t>• Minh bạch tuyệt đối: nói không với kết quả ảo, để trống 12 TC chưa chạy kèm lý do kỹ thuật</a:t>
            </a:r>
          </a:p>
          <a:p>
            <a:pPr>
              <a:defRPr sz="1200"/>
            </a:pPr>
            <a:r>
              <a:t>• Cả 5 thành viên Nhóm 02 đều tham gia tích cực và hoàn thành 100% nhiệm vụ được giao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6552000"/>
            <a:ext cx="8243999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404040"/>
                </a:solidFill>
                <a:latin typeface="Times New Roman"/>
              </a:rPr>
              <a:t>Kiểm thử phần mềm – Nhóm 02 – 23CT113 – Tử Tế Fund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24000"/>
            <a:ext cx="8243999" cy="4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333333"/>
                </a:solidFill>
              </a:defRPr>
            </a:pPr>
            <a:r>
              <a:t>• Nghiệm thu toàn diện đồ án Kiểm thử Phần mềm:</a:t>
            </a:r>
            <a:br/>
            <a:r>
              <a:t>  – Đầy đủ 11 tài liệu chuẩn quy định: Test Plan, Test Report, Workbook 105 TCs, 3 Biên bản họp có ảnh, Kế hoạch trưởng nhóm</a:t>
            </a:r>
            <a:br/>
            <a:r>
              <a:t>  – Bằng chứng kiểm thử thực tế 100% (17 ảnh screenshot chụp từ demo Vercel, curl response code, unit tests)</a:t>
            </a:r>
            <a:br/>
            <a:r>
              <a:t>  – Đánh giá kết quả: 89 PASS / 4 FAIL / 12 Chưa chạy (Tỷ lệ đạt 95.7% trên số ca đã thực thi)</a:t>
            </a:r>
            <a:br/>
            <a:r>
              <a:t>  – Đạt trọn vẹn mục tiêu đồ án học phần và sẵn sàng bảo vệ trước Hội đồng.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