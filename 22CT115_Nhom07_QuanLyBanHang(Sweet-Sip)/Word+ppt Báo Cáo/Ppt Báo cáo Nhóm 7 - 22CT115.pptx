
<file path=[Content_Types].xml><?xml version="1.0" encoding="utf-8"?>
<Types xmlns="http://schemas.openxmlformats.org/package/2006/content-types">
  <Default Extension="bin" ContentType="application/vnd.openxmlformats-officedocument.oleObject"/>
  <Default Extension="fntdata" ContentType="application/x-fontdata"/>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8288000" cy="10287000"/>
  <p:notesSz cx="6858000" cy="9144000"/>
  <p:embeddedFontLst>
    <p:embeddedFont>
      <p:font typeface="Arial Bold" panose="020B0704020202020204" pitchFamily="34" charset="0"/>
      <p:regular r:id="rId20"/>
      <p:bold r:id="rId21"/>
    </p:embeddedFont>
    <p:embeddedFont>
      <p:font typeface="Calibri" panose="020F0502020204030204" pitchFamily="34" charset="0"/>
      <p:regular r:id="rId22"/>
      <p:bold r:id="rId23"/>
      <p:italic r:id="rId24"/>
      <p:boldItalic r:id="rId25"/>
    </p:embeddedFont>
    <p:embeddedFont>
      <p:font typeface="Roboto" panose="02000000000000000000" pitchFamily="2" charset="0"/>
      <p:regular r:id="rId26"/>
      <p:bold r:id="rId27"/>
    </p:embeddedFont>
    <p:embeddedFont>
      <p:font typeface="Roboto Bold" panose="02000000000000000000" charset="0"/>
      <p:regular r:id="rId28"/>
    </p:embeddedFont>
    <p:embeddedFont>
      <p:font typeface="Times New Roman" panose="02020603050405020304" pitchFamily="18" charset="0"/>
      <p:regular r:id="rId29"/>
    </p:embeddedFont>
    <p:embeddedFont>
      <p:font typeface="Times New Roman Bold" panose="02020803070505020304" pitchFamily="18" charset="0"/>
      <p:regular r:id="rId30"/>
      <p:bold r:id="rId3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4" d="100"/>
          <a:sy n="54" d="100"/>
        </p:scale>
        <p:origin x="754" y="13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font" Target="fonts/font2.fntdata"/><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font" Target="fonts/font9.fntdata"/><Relationship Id="rId10" Type="http://schemas.openxmlformats.org/officeDocument/2006/relationships/slide" Target="slides/slide9.xml"/><Relationship Id="rId19" Type="http://schemas.openxmlformats.org/officeDocument/2006/relationships/notesMaster" Target="notesMasters/notesMaster1.xml"/><Relationship Id="rId31" Type="http://schemas.openxmlformats.org/officeDocument/2006/relationships/font" Target="fonts/font1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font" Target="fonts/font11.fntdata"/><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29.11.2025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29/11/2025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29/11/2025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29/11/2025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29/11/2025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29/11/2025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29/11/2025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29/11/2025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29/11/2025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29/11/2025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29/11/2025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29/11/2025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29/11/2025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3.gif"/><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3.gif"/><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4.jpeg"/><Relationship Id="rId5" Type="http://schemas.openxmlformats.org/officeDocument/2006/relationships/image" Target="../media/image3.gif"/><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3.gif"/><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3.gif"/><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3.gif"/><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3.gif"/><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image" Target="../media/image3.gif"/><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8.jpeg"/><Relationship Id="rId5" Type="http://schemas.openxmlformats.org/officeDocument/2006/relationships/image" Target="../media/image3.gif"/><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7.xml"/><Relationship Id="rId5" Type="http://schemas.openxmlformats.org/officeDocument/2006/relationships/image" Target="../media/image3.gif"/><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3.gif"/><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oleObject" Target="../embeddings/oleObject1.bin"/><Relationship Id="rId5" Type="http://schemas.openxmlformats.org/officeDocument/2006/relationships/image" Target="../media/image3.gif"/><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oleObject" Target="../embeddings/oleObject2.bin"/><Relationship Id="rId5" Type="http://schemas.openxmlformats.org/officeDocument/2006/relationships/image" Target="../media/image3.gif"/><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3.gif"/><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7.xml"/><Relationship Id="rId6" Type="http://schemas.openxmlformats.org/officeDocument/2006/relationships/oleObject" Target="../embeddings/oleObject3.bin"/><Relationship Id="rId5" Type="http://schemas.openxmlformats.org/officeDocument/2006/relationships/image" Target="../media/image3.gif"/><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oleObject" Target="../embeddings/oleObject4.bin"/><Relationship Id="rId5" Type="http://schemas.openxmlformats.org/officeDocument/2006/relationships/image" Target="../media/image3.gif"/><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7.xml"/><Relationship Id="rId5" Type="http://schemas.openxmlformats.org/officeDocument/2006/relationships/image" Target="../media/image3.gif"/><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9525"/>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sp>
      <p:grpSp>
        <p:nvGrpSpPr>
          <p:cNvPr id="3" name="Group 3"/>
          <p:cNvGrpSpPr>
            <a:grpSpLocks noChangeAspect="1"/>
          </p:cNvGrpSpPr>
          <p:nvPr/>
        </p:nvGrpSpPr>
        <p:grpSpPr>
          <a:xfrm>
            <a:off x="155352" y="-409644"/>
            <a:ext cx="2203894" cy="2203894"/>
            <a:chOff x="0" y="0"/>
            <a:chExt cx="2938525" cy="2938525"/>
          </a:xfrm>
        </p:grpSpPr>
        <p:sp>
          <p:nvSpPr>
            <p:cNvPr id="4" name="Freeform 4"/>
            <p:cNvSpPr/>
            <p:nvPr/>
          </p:nvSpPr>
          <p:spPr>
            <a:xfrm>
              <a:off x="0" y="0"/>
              <a:ext cx="2938526" cy="2938526"/>
            </a:xfrm>
            <a:custGeom>
              <a:avLst/>
              <a:gdLst/>
              <a:ahLst/>
              <a:cxnLst/>
              <a:rect l="l" t="t" r="r" b="b"/>
              <a:pathLst>
                <a:path w="2938526" h="2938526">
                  <a:moveTo>
                    <a:pt x="0" y="0"/>
                  </a:moveTo>
                  <a:lnTo>
                    <a:pt x="2938526" y="0"/>
                  </a:lnTo>
                  <a:lnTo>
                    <a:pt x="2938526" y="2938526"/>
                  </a:lnTo>
                  <a:lnTo>
                    <a:pt x="0" y="2938526"/>
                  </a:lnTo>
                  <a:lnTo>
                    <a:pt x="0" y="0"/>
                  </a:lnTo>
                  <a:close/>
                </a:path>
              </a:pathLst>
            </a:custGeom>
            <a:blipFill>
              <a:blip r:embed="rId4"/>
              <a:stretch>
                <a:fillRect/>
              </a:stretch>
            </a:blipFill>
          </p:spPr>
        </p:sp>
      </p:grpSp>
      <p:grpSp>
        <p:nvGrpSpPr>
          <p:cNvPr id="5" name="Group 5"/>
          <p:cNvGrpSpPr>
            <a:grpSpLocks noChangeAspect="1"/>
          </p:cNvGrpSpPr>
          <p:nvPr/>
        </p:nvGrpSpPr>
        <p:grpSpPr>
          <a:xfrm>
            <a:off x="15683212" y="140336"/>
            <a:ext cx="2486026" cy="1085850"/>
            <a:chOff x="0" y="0"/>
            <a:chExt cx="3314701" cy="1447800"/>
          </a:xfrm>
        </p:grpSpPr>
        <p:sp>
          <p:nvSpPr>
            <p:cNvPr id="6" name="Freeform 6"/>
            <p:cNvSpPr/>
            <p:nvPr/>
          </p:nvSpPr>
          <p:spPr>
            <a:xfrm>
              <a:off x="0" y="0"/>
              <a:ext cx="3314700" cy="1447800"/>
            </a:xfrm>
            <a:custGeom>
              <a:avLst/>
              <a:gdLst/>
              <a:ahLst/>
              <a:cxnLst/>
              <a:rect l="l" t="t" r="r" b="b"/>
              <a:pathLst>
                <a:path w="3314700" h="1447800">
                  <a:moveTo>
                    <a:pt x="0" y="0"/>
                  </a:moveTo>
                  <a:lnTo>
                    <a:pt x="3314700" y="0"/>
                  </a:lnTo>
                  <a:lnTo>
                    <a:pt x="3314700" y="1447800"/>
                  </a:lnTo>
                  <a:lnTo>
                    <a:pt x="0" y="1447800"/>
                  </a:lnTo>
                  <a:lnTo>
                    <a:pt x="0" y="0"/>
                  </a:lnTo>
                  <a:close/>
                </a:path>
              </a:pathLst>
            </a:custGeom>
            <a:blipFill>
              <a:blip r:embed="rId5"/>
              <a:stretch>
                <a:fillRect/>
              </a:stretch>
            </a:blipFill>
          </p:spPr>
        </p:sp>
      </p:grpSp>
      <p:grpSp>
        <p:nvGrpSpPr>
          <p:cNvPr id="7" name="Group 7"/>
          <p:cNvGrpSpPr/>
          <p:nvPr/>
        </p:nvGrpSpPr>
        <p:grpSpPr>
          <a:xfrm>
            <a:off x="2097540" y="2745044"/>
            <a:ext cx="14101824" cy="3264600"/>
            <a:chOff x="0" y="0"/>
            <a:chExt cx="18802432" cy="4352800"/>
          </a:xfrm>
        </p:grpSpPr>
        <p:sp>
          <p:nvSpPr>
            <p:cNvPr id="8" name="Freeform 8"/>
            <p:cNvSpPr/>
            <p:nvPr/>
          </p:nvSpPr>
          <p:spPr>
            <a:xfrm>
              <a:off x="0" y="0"/>
              <a:ext cx="18802432" cy="4352800"/>
            </a:xfrm>
            <a:custGeom>
              <a:avLst/>
              <a:gdLst/>
              <a:ahLst/>
              <a:cxnLst/>
              <a:rect l="l" t="t" r="r" b="b"/>
              <a:pathLst>
                <a:path w="18802432" h="4352800">
                  <a:moveTo>
                    <a:pt x="0" y="0"/>
                  </a:moveTo>
                  <a:lnTo>
                    <a:pt x="18802432" y="0"/>
                  </a:lnTo>
                  <a:lnTo>
                    <a:pt x="18802432" y="4352800"/>
                  </a:lnTo>
                  <a:lnTo>
                    <a:pt x="0" y="4352800"/>
                  </a:lnTo>
                  <a:close/>
                </a:path>
              </a:pathLst>
            </a:custGeom>
            <a:solidFill>
              <a:srgbClr val="000000">
                <a:alpha val="0"/>
              </a:srgbClr>
            </a:solidFill>
          </p:spPr>
        </p:sp>
        <p:sp>
          <p:nvSpPr>
            <p:cNvPr id="9" name="TextBox 9"/>
            <p:cNvSpPr txBox="1"/>
            <p:nvPr/>
          </p:nvSpPr>
          <p:spPr>
            <a:xfrm>
              <a:off x="0" y="57150"/>
              <a:ext cx="18802432" cy="4295650"/>
            </a:xfrm>
            <a:prstGeom prst="rect">
              <a:avLst/>
            </a:prstGeom>
          </p:spPr>
          <p:txBody>
            <a:bodyPr lIns="0" tIns="0" rIns="0" bIns="0" rtlCol="0" anchor="ctr"/>
            <a:lstStyle/>
            <a:p>
              <a:pPr algn="ctr">
                <a:lnSpc>
                  <a:spcPts val="9720"/>
                </a:lnSpc>
              </a:pPr>
              <a:r>
                <a:rPr lang="en-US" sz="6000" dirty="0">
                  <a:solidFill>
                    <a:srgbClr val="0033CC"/>
                  </a:solidFill>
                  <a:latin typeface="Times New Roman"/>
                  <a:ea typeface="Times New Roman"/>
                  <a:cs typeface="Times New Roman"/>
                  <a:sym typeface="Times New Roman"/>
                </a:rPr>
                <a:t>KIỂM THỬ VÀ ĐẢM BẢO CHẤT LƯỢNG PHẦN MỀM DỰ ÁN WEB BÁN HÀNG</a:t>
              </a:r>
            </a:p>
          </p:txBody>
        </p:sp>
      </p:grpSp>
      <p:grpSp>
        <p:nvGrpSpPr>
          <p:cNvPr id="10" name="Group 10"/>
          <p:cNvGrpSpPr/>
          <p:nvPr/>
        </p:nvGrpSpPr>
        <p:grpSpPr>
          <a:xfrm>
            <a:off x="2111827" y="6210300"/>
            <a:ext cx="3281378" cy="1029000"/>
            <a:chOff x="0" y="0"/>
            <a:chExt cx="4375171" cy="1372000"/>
          </a:xfrm>
        </p:grpSpPr>
        <p:sp>
          <p:nvSpPr>
            <p:cNvPr id="11" name="Freeform 11"/>
            <p:cNvSpPr/>
            <p:nvPr/>
          </p:nvSpPr>
          <p:spPr>
            <a:xfrm>
              <a:off x="19" y="19"/>
              <a:ext cx="4375152" cy="1371981"/>
            </a:xfrm>
            <a:custGeom>
              <a:avLst/>
              <a:gdLst/>
              <a:ahLst/>
              <a:cxnLst/>
              <a:rect l="l" t="t" r="r" b="b"/>
              <a:pathLst>
                <a:path w="4375152" h="1371981">
                  <a:moveTo>
                    <a:pt x="0" y="0"/>
                  </a:moveTo>
                  <a:lnTo>
                    <a:pt x="4375152" y="0"/>
                  </a:lnTo>
                  <a:lnTo>
                    <a:pt x="4375152" y="1371981"/>
                  </a:lnTo>
                  <a:lnTo>
                    <a:pt x="0" y="1371981"/>
                  </a:lnTo>
                  <a:close/>
                </a:path>
              </a:pathLst>
            </a:custGeom>
            <a:solidFill>
              <a:srgbClr val="F5A700"/>
            </a:solidFill>
          </p:spPr>
          <p:txBody>
            <a:bodyPr/>
            <a:lstStyle/>
            <a:p>
              <a:endParaRPr lang="en-US" dirty="0"/>
            </a:p>
          </p:txBody>
        </p:sp>
        <p:sp>
          <p:nvSpPr>
            <p:cNvPr id="12" name="TextBox 12"/>
            <p:cNvSpPr txBox="1"/>
            <p:nvPr/>
          </p:nvSpPr>
          <p:spPr>
            <a:xfrm>
              <a:off x="0" y="0"/>
              <a:ext cx="4375171" cy="1372000"/>
            </a:xfrm>
            <a:prstGeom prst="rect">
              <a:avLst/>
            </a:prstGeom>
          </p:spPr>
          <p:txBody>
            <a:bodyPr lIns="50800" tIns="50800" rIns="50800" bIns="50800" rtlCol="0" anchor="ctr"/>
            <a:lstStyle/>
            <a:p>
              <a:pPr algn="ctr">
                <a:lnSpc>
                  <a:spcPts val="4989"/>
                </a:lnSpc>
              </a:pPr>
              <a:r>
                <a:rPr lang="en-US" sz="4200" dirty="0" err="1">
                  <a:solidFill>
                    <a:srgbClr val="FFFFFF"/>
                  </a:solidFill>
                  <a:latin typeface="Roboto"/>
                  <a:ea typeface="Roboto"/>
                  <a:cs typeface="Roboto"/>
                  <a:sym typeface="Roboto"/>
                </a:rPr>
                <a:t>Nhóm</a:t>
              </a:r>
              <a:r>
                <a:rPr lang="en-US" sz="4200" dirty="0">
                  <a:solidFill>
                    <a:srgbClr val="FFFFFF"/>
                  </a:solidFill>
                  <a:latin typeface="Roboto"/>
                  <a:ea typeface="Roboto"/>
                  <a:cs typeface="Roboto"/>
                  <a:sym typeface="Roboto"/>
                </a:rPr>
                <a:t> 7</a:t>
              </a: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sp>
      <p:grpSp>
        <p:nvGrpSpPr>
          <p:cNvPr id="3" name="Group 3"/>
          <p:cNvGrpSpPr>
            <a:grpSpLocks noChangeAspect="1"/>
          </p:cNvGrpSpPr>
          <p:nvPr/>
        </p:nvGrpSpPr>
        <p:grpSpPr>
          <a:xfrm>
            <a:off x="155352" y="-409644"/>
            <a:ext cx="2203894" cy="2203894"/>
            <a:chOff x="0" y="0"/>
            <a:chExt cx="2938525" cy="2938525"/>
          </a:xfrm>
        </p:grpSpPr>
        <p:sp>
          <p:nvSpPr>
            <p:cNvPr id="4" name="Freeform 4"/>
            <p:cNvSpPr/>
            <p:nvPr/>
          </p:nvSpPr>
          <p:spPr>
            <a:xfrm>
              <a:off x="0" y="0"/>
              <a:ext cx="2938526" cy="2938526"/>
            </a:xfrm>
            <a:custGeom>
              <a:avLst/>
              <a:gdLst/>
              <a:ahLst/>
              <a:cxnLst/>
              <a:rect l="l" t="t" r="r" b="b"/>
              <a:pathLst>
                <a:path w="2938526" h="2938526">
                  <a:moveTo>
                    <a:pt x="0" y="0"/>
                  </a:moveTo>
                  <a:lnTo>
                    <a:pt x="2938526" y="0"/>
                  </a:lnTo>
                  <a:lnTo>
                    <a:pt x="2938526" y="2938526"/>
                  </a:lnTo>
                  <a:lnTo>
                    <a:pt x="0" y="2938526"/>
                  </a:lnTo>
                  <a:lnTo>
                    <a:pt x="0" y="0"/>
                  </a:lnTo>
                  <a:close/>
                </a:path>
              </a:pathLst>
            </a:custGeom>
            <a:blipFill>
              <a:blip r:embed="rId4"/>
              <a:stretch>
                <a:fillRect/>
              </a:stretch>
            </a:blipFill>
          </p:spPr>
        </p:sp>
      </p:grpSp>
      <p:grpSp>
        <p:nvGrpSpPr>
          <p:cNvPr id="5" name="Group 5"/>
          <p:cNvGrpSpPr>
            <a:grpSpLocks noChangeAspect="1"/>
          </p:cNvGrpSpPr>
          <p:nvPr/>
        </p:nvGrpSpPr>
        <p:grpSpPr>
          <a:xfrm>
            <a:off x="15683212" y="140336"/>
            <a:ext cx="2486026" cy="1085850"/>
            <a:chOff x="0" y="0"/>
            <a:chExt cx="3314701" cy="1447800"/>
          </a:xfrm>
        </p:grpSpPr>
        <p:sp>
          <p:nvSpPr>
            <p:cNvPr id="6" name="Freeform 6"/>
            <p:cNvSpPr/>
            <p:nvPr/>
          </p:nvSpPr>
          <p:spPr>
            <a:xfrm>
              <a:off x="0" y="0"/>
              <a:ext cx="3314700" cy="1447800"/>
            </a:xfrm>
            <a:custGeom>
              <a:avLst/>
              <a:gdLst/>
              <a:ahLst/>
              <a:cxnLst/>
              <a:rect l="l" t="t" r="r" b="b"/>
              <a:pathLst>
                <a:path w="3314700" h="1447800">
                  <a:moveTo>
                    <a:pt x="0" y="0"/>
                  </a:moveTo>
                  <a:lnTo>
                    <a:pt x="3314700" y="0"/>
                  </a:lnTo>
                  <a:lnTo>
                    <a:pt x="3314700" y="1447800"/>
                  </a:lnTo>
                  <a:lnTo>
                    <a:pt x="0" y="1447800"/>
                  </a:lnTo>
                  <a:lnTo>
                    <a:pt x="0" y="0"/>
                  </a:lnTo>
                  <a:close/>
                </a:path>
              </a:pathLst>
            </a:custGeom>
            <a:blipFill>
              <a:blip r:embed="rId5"/>
              <a:stretch>
                <a:fillRect/>
              </a:stretch>
            </a:blipFill>
          </p:spPr>
        </p:sp>
      </p:grpSp>
      <p:grpSp>
        <p:nvGrpSpPr>
          <p:cNvPr id="7" name="Group 7"/>
          <p:cNvGrpSpPr/>
          <p:nvPr/>
        </p:nvGrpSpPr>
        <p:grpSpPr>
          <a:xfrm>
            <a:off x="2670196" y="143026"/>
            <a:ext cx="62400" cy="1056000"/>
            <a:chOff x="0" y="0"/>
            <a:chExt cx="83200" cy="1408000"/>
          </a:xfrm>
        </p:grpSpPr>
        <p:sp>
          <p:nvSpPr>
            <p:cNvPr id="8" name="Freeform 8"/>
            <p:cNvSpPr/>
            <p:nvPr/>
          </p:nvSpPr>
          <p:spPr>
            <a:xfrm>
              <a:off x="0" y="0"/>
              <a:ext cx="83185" cy="1408049"/>
            </a:xfrm>
            <a:custGeom>
              <a:avLst/>
              <a:gdLst/>
              <a:ahLst/>
              <a:cxnLst/>
              <a:rect l="l" t="t" r="r" b="b"/>
              <a:pathLst>
                <a:path w="83185" h="1408049">
                  <a:moveTo>
                    <a:pt x="0" y="0"/>
                  </a:moveTo>
                  <a:lnTo>
                    <a:pt x="83185" y="0"/>
                  </a:lnTo>
                  <a:lnTo>
                    <a:pt x="83185" y="1408049"/>
                  </a:lnTo>
                  <a:lnTo>
                    <a:pt x="0" y="1408049"/>
                  </a:lnTo>
                  <a:close/>
                </a:path>
              </a:pathLst>
            </a:custGeom>
            <a:solidFill>
              <a:srgbClr val="F5A700"/>
            </a:solidFill>
          </p:spPr>
        </p:sp>
      </p:grpSp>
      <p:grpSp>
        <p:nvGrpSpPr>
          <p:cNvPr id="9" name="Group 9"/>
          <p:cNvGrpSpPr/>
          <p:nvPr/>
        </p:nvGrpSpPr>
        <p:grpSpPr>
          <a:xfrm>
            <a:off x="2882476" y="878062"/>
            <a:ext cx="625800" cy="321600"/>
            <a:chOff x="0" y="0"/>
            <a:chExt cx="834400" cy="428800"/>
          </a:xfrm>
        </p:grpSpPr>
        <p:sp>
          <p:nvSpPr>
            <p:cNvPr id="10" name="Freeform 10"/>
            <p:cNvSpPr/>
            <p:nvPr/>
          </p:nvSpPr>
          <p:spPr>
            <a:xfrm>
              <a:off x="0" y="0"/>
              <a:ext cx="834390" cy="428752"/>
            </a:xfrm>
            <a:custGeom>
              <a:avLst/>
              <a:gdLst/>
              <a:ahLst/>
              <a:cxnLst/>
              <a:rect l="l" t="t" r="r" b="b"/>
              <a:pathLst>
                <a:path w="834390" h="428752">
                  <a:moveTo>
                    <a:pt x="0" y="0"/>
                  </a:moveTo>
                  <a:lnTo>
                    <a:pt x="575310" y="0"/>
                  </a:lnTo>
                  <a:lnTo>
                    <a:pt x="834390" y="214376"/>
                  </a:lnTo>
                  <a:lnTo>
                    <a:pt x="575310" y="428752"/>
                  </a:lnTo>
                  <a:lnTo>
                    <a:pt x="0" y="428752"/>
                  </a:lnTo>
                  <a:close/>
                </a:path>
              </a:pathLst>
            </a:custGeom>
            <a:solidFill>
              <a:srgbClr val="0033CC"/>
            </a:solidFill>
          </p:spPr>
        </p:sp>
      </p:grpSp>
      <p:grpSp>
        <p:nvGrpSpPr>
          <p:cNvPr id="11" name="Group 11"/>
          <p:cNvGrpSpPr/>
          <p:nvPr/>
        </p:nvGrpSpPr>
        <p:grpSpPr>
          <a:xfrm>
            <a:off x="2882476" y="143026"/>
            <a:ext cx="15004800" cy="605400"/>
            <a:chOff x="0" y="0"/>
            <a:chExt cx="20006400" cy="807200"/>
          </a:xfrm>
        </p:grpSpPr>
        <p:sp>
          <p:nvSpPr>
            <p:cNvPr id="12" name="Freeform 12"/>
            <p:cNvSpPr/>
            <p:nvPr/>
          </p:nvSpPr>
          <p:spPr>
            <a:xfrm>
              <a:off x="0" y="0"/>
              <a:ext cx="20006401" cy="807200"/>
            </a:xfrm>
            <a:custGeom>
              <a:avLst/>
              <a:gdLst/>
              <a:ahLst/>
              <a:cxnLst/>
              <a:rect l="l" t="t" r="r" b="b"/>
              <a:pathLst>
                <a:path w="20006401" h="807200">
                  <a:moveTo>
                    <a:pt x="0" y="0"/>
                  </a:moveTo>
                  <a:lnTo>
                    <a:pt x="20006401" y="0"/>
                  </a:lnTo>
                  <a:lnTo>
                    <a:pt x="20006401" y="807200"/>
                  </a:lnTo>
                  <a:lnTo>
                    <a:pt x="0" y="807200"/>
                  </a:lnTo>
                  <a:close/>
                </a:path>
              </a:pathLst>
            </a:custGeom>
            <a:solidFill>
              <a:srgbClr val="000000">
                <a:alpha val="0"/>
              </a:srgbClr>
            </a:solidFill>
          </p:spPr>
        </p:sp>
        <p:sp>
          <p:nvSpPr>
            <p:cNvPr id="13" name="TextBox 13"/>
            <p:cNvSpPr txBox="1"/>
            <p:nvPr/>
          </p:nvSpPr>
          <p:spPr>
            <a:xfrm>
              <a:off x="0" y="19050"/>
              <a:ext cx="20006400" cy="788150"/>
            </a:xfrm>
            <a:prstGeom prst="rect">
              <a:avLst/>
            </a:prstGeom>
          </p:spPr>
          <p:txBody>
            <a:bodyPr lIns="0" tIns="0" rIns="0" bIns="0" rtlCol="0" anchor="ctr"/>
            <a:lstStyle/>
            <a:p>
              <a:pPr algn="l">
                <a:lnSpc>
                  <a:spcPts val="3304"/>
                </a:lnSpc>
              </a:pPr>
              <a:r>
                <a:rPr lang="en-US" sz="3060">
                  <a:solidFill>
                    <a:srgbClr val="FF9900"/>
                  </a:solidFill>
                  <a:latin typeface="Roboto"/>
                  <a:ea typeface="Roboto"/>
                  <a:cs typeface="Roboto"/>
                  <a:sym typeface="Roboto"/>
                </a:rPr>
                <a:t>Giới thiệu</a:t>
              </a:r>
            </a:p>
          </p:txBody>
        </p:sp>
      </p:grpSp>
      <p:sp>
        <p:nvSpPr>
          <p:cNvPr id="14" name="TextBox 14"/>
          <p:cNvSpPr txBox="1"/>
          <p:nvPr/>
        </p:nvSpPr>
        <p:spPr>
          <a:xfrm>
            <a:off x="393088" y="4040374"/>
            <a:ext cx="11248837" cy="4986147"/>
          </a:xfrm>
          <a:prstGeom prst="rect">
            <a:avLst/>
          </a:prstGeom>
        </p:spPr>
        <p:txBody>
          <a:bodyPr lIns="0" tIns="0" rIns="0" bIns="0" rtlCol="0" anchor="t">
            <a:spAutoFit/>
          </a:bodyPr>
          <a:lstStyle/>
          <a:p>
            <a:pPr marL="1541780" lvl="1" indent="-770890" algn="l">
              <a:lnSpc>
                <a:spcPts val="6048"/>
              </a:lnSpc>
              <a:buFont typeface="Arial"/>
              <a:buChar char="•"/>
            </a:pPr>
            <a:r>
              <a:rPr lang="en-US" sz="5599" dirty="0" err="1">
                <a:solidFill>
                  <a:srgbClr val="000000"/>
                </a:solidFill>
                <a:latin typeface="Roboto" panose="02000000000000000000" pitchFamily="2" charset="0"/>
                <a:ea typeface="Roboto" panose="02000000000000000000" pitchFamily="2" charset="0"/>
                <a:cs typeface="Roboto Bold"/>
                <a:sym typeface="Roboto Bold"/>
              </a:rPr>
              <a:t>Nhóm</a:t>
            </a:r>
            <a:r>
              <a:rPr lang="en-US" sz="5599" dirty="0">
                <a:solidFill>
                  <a:srgbClr val="000000"/>
                </a:solidFill>
                <a:latin typeface="Roboto" panose="02000000000000000000" pitchFamily="2" charset="0"/>
                <a:ea typeface="Roboto" panose="02000000000000000000" pitchFamily="2" charset="0"/>
                <a:cs typeface="Roboto Bold"/>
                <a:sym typeface="Roboto Bold"/>
              </a:rPr>
              <a:t> </a:t>
            </a:r>
            <a:r>
              <a:rPr lang="en-US" sz="5599" dirty="0" err="1">
                <a:solidFill>
                  <a:srgbClr val="000000"/>
                </a:solidFill>
                <a:latin typeface="Roboto" panose="02000000000000000000" pitchFamily="2" charset="0"/>
                <a:ea typeface="Roboto" panose="02000000000000000000" pitchFamily="2" charset="0"/>
                <a:cs typeface="Roboto Bold"/>
                <a:sym typeface="Roboto Bold"/>
              </a:rPr>
              <a:t>trưởng</a:t>
            </a:r>
            <a:r>
              <a:rPr lang="en-US" sz="5599" dirty="0">
                <a:solidFill>
                  <a:srgbClr val="000000"/>
                </a:solidFill>
                <a:latin typeface="Roboto" panose="02000000000000000000" pitchFamily="2" charset="0"/>
                <a:ea typeface="Roboto" panose="02000000000000000000" pitchFamily="2" charset="0"/>
                <a:cs typeface="Roboto Bold"/>
                <a:sym typeface="Roboto Bold"/>
              </a:rPr>
              <a:t>:</a:t>
            </a:r>
          </a:p>
          <a:p>
            <a:pPr marL="2311400" lvl="2" indent="-770467" algn="l">
              <a:lnSpc>
                <a:spcPts val="5399"/>
              </a:lnSpc>
              <a:buFont typeface="Arial"/>
              <a:buChar char="⚬"/>
            </a:pPr>
            <a:r>
              <a:rPr lang="en-US" sz="4999" dirty="0" err="1">
                <a:solidFill>
                  <a:srgbClr val="000000"/>
                </a:solidFill>
                <a:latin typeface="Roboto" panose="02000000000000000000" pitchFamily="2" charset="0"/>
                <a:ea typeface="Roboto" panose="02000000000000000000" pitchFamily="2" charset="0"/>
                <a:cs typeface="Roboto"/>
                <a:sym typeface="Roboto"/>
              </a:rPr>
              <a:t>Trần</a:t>
            </a:r>
            <a:r>
              <a:rPr lang="en-US" sz="4999" dirty="0">
                <a:solidFill>
                  <a:srgbClr val="000000"/>
                </a:solidFill>
                <a:latin typeface="Roboto" panose="02000000000000000000" pitchFamily="2" charset="0"/>
                <a:ea typeface="Roboto" panose="02000000000000000000" pitchFamily="2" charset="0"/>
                <a:cs typeface="Roboto"/>
                <a:sym typeface="Roboto"/>
              </a:rPr>
              <a:t> </a:t>
            </a:r>
            <a:r>
              <a:rPr lang="en-US" sz="4999" dirty="0" err="1">
                <a:solidFill>
                  <a:srgbClr val="000000"/>
                </a:solidFill>
                <a:latin typeface="Roboto" panose="02000000000000000000" pitchFamily="2" charset="0"/>
                <a:ea typeface="Roboto" panose="02000000000000000000" pitchFamily="2" charset="0"/>
                <a:cs typeface="Roboto"/>
                <a:sym typeface="Roboto"/>
              </a:rPr>
              <a:t>Thị</a:t>
            </a:r>
            <a:r>
              <a:rPr lang="en-US" sz="4999" dirty="0">
                <a:solidFill>
                  <a:srgbClr val="000000"/>
                </a:solidFill>
                <a:latin typeface="Roboto" panose="02000000000000000000" pitchFamily="2" charset="0"/>
                <a:ea typeface="Roboto" panose="02000000000000000000" pitchFamily="2" charset="0"/>
                <a:cs typeface="Roboto"/>
                <a:sym typeface="Roboto"/>
              </a:rPr>
              <a:t> </a:t>
            </a:r>
            <a:r>
              <a:rPr lang="en-US" sz="4999" dirty="0" err="1">
                <a:solidFill>
                  <a:srgbClr val="000000"/>
                </a:solidFill>
                <a:latin typeface="Roboto" panose="02000000000000000000" pitchFamily="2" charset="0"/>
                <a:ea typeface="Roboto" panose="02000000000000000000" pitchFamily="2" charset="0"/>
                <a:cs typeface="Roboto"/>
                <a:sym typeface="Roboto"/>
              </a:rPr>
              <a:t>Như</a:t>
            </a:r>
            <a:r>
              <a:rPr lang="en-US" sz="4999" dirty="0">
                <a:solidFill>
                  <a:srgbClr val="000000"/>
                </a:solidFill>
                <a:latin typeface="Roboto" panose="02000000000000000000" pitchFamily="2" charset="0"/>
                <a:ea typeface="Roboto" panose="02000000000000000000" pitchFamily="2" charset="0"/>
                <a:cs typeface="Roboto"/>
                <a:sym typeface="Roboto"/>
              </a:rPr>
              <a:t> </a:t>
            </a:r>
            <a:r>
              <a:rPr lang="en-US" sz="4999" dirty="0" err="1">
                <a:solidFill>
                  <a:srgbClr val="000000"/>
                </a:solidFill>
                <a:latin typeface="Roboto" panose="02000000000000000000" pitchFamily="2" charset="0"/>
                <a:ea typeface="Roboto" panose="02000000000000000000" pitchFamily="2" charset="0"/>
                <a:cs typeface="Roboto"/>
                <a:sym typeface="Roboto"/>
              </a:rPr>
              <a:t>Quỳnh</a:t>
            </a:r>
            <a:r>
              <a:rPr lang="en-US" sz="4999" dirty="0">
                <a:solidFill>
                  <a:srgbClr val="000000"/>
                </a:solidFill>
                <a:latin typeface="Roboto" panose="02000000000000000000" pitchFamily="2" charset="0"/>
                <a:ea typeface="Roboto" panose="02000000000000000000" pitchFamily="2" charset="0"/>
                <a:cs typeface="Roboto"/>
                <a:sym typeface="Roboto"/>
              </a:rPr>
              <a:t> </a:t>
            </a:r>
          </a:p>
          <a:p>
            <a:pPr marL="1541780" lvl="1" indent="-770890" algn="l">
              <a:lnSpc>
                <a:spcPts val="6048"/>
              </a:lnSpc>
              <a:buFont typeface="Arial"/>
              <a:buChar char="•"/>
            </a:pPr>
            <a:r>
              <a:rPr lang="en-US" sz="5599" dirty="0" err="1">
                <a:solidFill>
                  <a:srgbClr val="000000"/>
                </a:solidFill>
                <a:latin typeface="Roboto" panose="02000000000000000000" pitchFamily="2" charset="0"/>
                <a:ea typeface="Roboto" panose="02000000000000000000" pitchFamily="2" charset="0"/>
                <a:cs typeface="Roboto Bold"/>
                <a:sym typeface="Roboto Bold"/>
              </a:rPr>
              <a:t>Thành</a:t>
            </a:r>
            <a:r>
              <a:rPr lang="en-US" sz="5599" dirty="0">
                <a:solidFill>
                  <a:srgbClr val="000000"/>
                </a:solidFill>
                <a:latin typeface="Roboto" panose="02000000000000000000" pitchFamily="2" charset="0"/>
                <a:ea typeface="Roboto" panose="02000000000000000000" pitchFamily="2" charset="0"/>
                <a:cs typeface="Roboto Bold"/>
                <a:sym typeface="Roboto Bold"/>
              </a:rPr>
              <a:t> </a:t>
            </a:r>
            <a:r>
              <a:rPr lang="en-US" sz="5599" dirty="0" err="1">
                <a:solidFill>
                  <a:srgbClr val="000000"/>
                </a:solidFill>
                <a:latin typeface="Roboto" panose="02000000000000000000" pitchFamily="2" charset="0"/>
                <a:ea typeface="Roboto" panose="02000000000000000000" pitchFamily="2" charset="0"/>
                <a:cs typeface="Roboto Bold"/>
                <a:sym typeface="Roboto Bold"/>
              </a:rPr>
              <a:t>viên</a:t>
            </a:r>
            <a:r>
              <a:rPr lang="en-US" sz="5599" dirty="0">
                <a:solidFill>
                  <a:srgbClr val="000000"/>
                </a:solidFill>
                <a:latin typeface="Roboto" panose="02000000000000000000" pitchFamily="2" charset="0"/>
                <a:ea typeface="Roboto" panose="02000000000000000000" pitchFamily="2" charset="0"/>
                <a:cs typeface="Roboto Bold"/>
                <a:sym typeface="Roboto Bold"/>
              </a:rPr>
              <a:t> </a:t>
            </a:r>
            <a:r>
              <a:rPr lang="en-US" sz="5599" dirty="0" err="1">
                <a:solidFill>
                  <a:srgbClr val="000000"/>
                </a:solidFill>
                <a:latin typeface="Roboto" panose="02000000000000000000" pitchFamily="2" charset="0"/>
                <a:ea typeface="Roboto" panose="02000000000000000000" pitchFamily="2" charset="0"/>
                <a:cs typeface="Roboto Bold"/>
                <a:sym typeface="Roboto Bold"/>
              </a:rPr>
              <a:t>nhóm</a:t>
            </a:r>
            <a:r>
              <a:rPr lang="en-US" sz="5599" dirty="0">
                <a:solidFill>
                  <a:srgbClr val="000000"/>
                </a:solidFill>
                <a:latin typeface="Roboto" panose="02000000000000000000" pitchFamily="2" charset="0"/>
                <a:ea typeface="Roboto" panose="02000000000000000000" pitchFamily="2" charset="0"/>
                <a:cs typeface="Roboto Bold"/>
                <a:sym typeface="Roboto Bold"/>
              </a:rPr>
              <a:t>:</a:t>
            </a:r>
          </a:p>
          <a:p>
            <a:pPr marL="2311401" lvl="2" indent="-770467" algn="l">
              <a:lnSpc>
                <a:spcPts val="5400"/>
              </a:lnSpc>
              <a:buFont typeface="Arial"/>
              <a:buChar char="⚬"/>
            </a:pPr>
            <a:r>
              <a:rPr lang="en-US" sz="5000" dirty="0">
                <a:solidFill>
                  <a:srgbClr val="000000"/>
                </a:solidFill>
                <a:latin typeface="Roboto" panose="02000000000000000000" pitchFamily="2" charset="0"/>
                <a:ea typeface="Roboto" panose="02000000000000000000" pitchFamily="2" charset="0"/>
                <a:cs typeface="Roboto"/>
                <a:sym typeface="Roboto"/>
              </a:rPr>
              <a:t>Lê </a:t>
            </a:r>
            <a:r>
              <a:rPr lang="en-US" sz="5000" dirty="0" err="1">
                <a:solidFill>
                  <a:srgbClr val="000000"/>
                </a:solidFill>
                <a:latin typeface="Roboto" panose="02000000000000000000" pitchFamily="2" charset="0"/>
                <a:ea typeface="Roboto" panose="02000000000000000000" pitchFamily="2" charset="0"/>
                <a:cs typeface="Roboto"/>
                <a:sym typeface="Roboto"/>
              </a:rPr>
              <a:t>Phúc</a:t>
            </a:r>
            <a:r>
              <a:rPr lang="en-US" sz="5000" dirty="0">
                <a:solidFill>
                  <a:srgbClr val="000000"/>
                </a:solidFill>
                <a:latin typeface="Roboto" panose="02000000000000000000" pitchFamily="2" charset="0"/>
                <a:ea typeface="Roboto" panose="02000000000000000000" pitchFamily="2" charset="0"/>
                <a:cs typeface="Roboto"/>
                <a:sym typeface="Roboto"/>
              </a:rPr>
              <a:t> </a:t>
            </a:r>
            <a:r>
              <a:rPr lang="en-US" sz="5000" dirty="0" err="1">
                <a:solidFill>
                  <a:srgbClr val="000000"/>
                </a:solidFill>
                <a:latin typeface="Roboto" panose="02000000000000000000" pitchFamily="2" charset="0"/>
                <a:ea typeface="Roboto" panose="02000000000000000000" pitchFamily="2" charset="0"/>
                <a:cs typeface="Roboto"/>
                <a:sym typeface="Roboto"/>
              </a:rPr>
              <a:t>Hậu</a:t>
            </a:r>
            <a:endParaRPr lang="en-US" sz="5000" dirty="0">
              <a:solidFill>
                <a:srgbClr val="000000"/>
              </a:solidFill>
              <a:latin typeface="Roboto" panose="02000000000000000000" pitchFamily="2" charset="0"/>
              <a:ea typeface="Roboto" panose="02000000000000000000" pitchFamily="2" charset="0"/>
              <a:cs typeface="Roboto"/>
              <a:sym typeface="Roboto"/>
            </a:endParaRPr>
          </a:p>
          <a:p>
            <a:pPr marL="2311400" lvl="2" indent="-770467" algn="l">
              <a:lnSpc>
                <a:spcPts val="5399"/>
              </a:lnSpc>
              <a:buFont typeface="Arial"/>
              <a:buChar char="⚬"/>
            </a:pPr>
            <a:r>
              <a:rPr lang="en-US" sz="4999" dirty="0" err="1">
                <a:solidFill>
                  <a:srgbClr val="000000"/>
                </a:solidFill>
                <a:latin typeface="Roboto" panose="02000000000000000000" pitchFamily="2" charset="0"/>
                <a:ea typeface="Roboto" panose="02000000000000000000" pitchFamily="2" charset="0"/>
                <a:cs typeface="Roboto"/>
                <a:sym typeface="Roboto"/>
              </a:rPr>
              <a:t>Nguyễn</a:t>
            </a:r>
            <a:r>
              <a:rPr lang="en-US" sz="4999" dirty="0">
                <a:solidFill>
                  <a:srgbClr val="000000"/>
                </a:solidFill>
                <a:latin typeface="Roboto" panose="02000000000000000000" pitchFamily="2" charset="0"/>
                <a:ea typeface="Roboto" panose="02000000000000000000" pitchFamily="2" charset="0"/>
                <a:cs typeface="Roboto"/>
                <a:sym typeface="Roboto"/>
              </a:rPr>
              <a:t> </a:t>
            </a:r>
            <a:r>
              <a:rPr lang="en-US" sz="4999" dirty="0" err="1">
                <a:solidFill>
                  <a:srgbClr val="000000"/>
                </a:solidFill>
                <a:latin typeface="Roboto" panose="02000000000000000000" pitchFamily="2" charset="0"/>
                <a:ea typeface="Roboto" panose="02000000000000000000" pitchFamily="2" charset="0"/>
                <a:cs typeface="Roboto"/>
                <a:sym typeface="Roboto"/>
              </a:rPr>
              <a:t>Trọng</a:t>
            </a:r>
            <a:r>
              <a:rPr lang="en-US" sz="4999" dirty="0">
                <a:solidFill>
                  <a:srgbClr val="000000"/>
                </a:solidFill>
                <a:latin typeface="Roboto" panose="02000000000000000000" pitchFamily="2" charset="0"/>
                <a:ea typeface="Roboto" panose="02000000000000000000" pitchFamily="2" charset="0"/>
                <a:cs typeface="Roboto"/>
                <a:sym typeface="Roboto"/>
              </a:rPr>
              <a:t> </a:t>
            </a:r>
            <a:r>
              <a:rPr lang="en-US" sz="4999" dirty="0" err="1">
                <a:solidFill>
                  <a:srgbClr val="000000"/>
                </a:solidFill>
                <a:latin typeface="Roboto" panose="02000000000000000000" pitchFamily="2" charset="0"/>
                <a:ea typeface="Roboto" panose="02000000000000000000" pitchFamily="2" charset="0"/>
                <a:cs typeface="Roboto"/>
                <a:sym typeface="Roboto"/>
              </a:rPr>
              <a:t>Hiếu</a:t>
            </a:r>
            <a:r>
              <a:rPr lang="en-US" sz="4999" dirty="0">
                <a:solidFill>
                  <a:srgbClr val="000000"/>
                </a:solidFill>
                <a:latin typeface="Roboto" panose="02000000000000000000" pitchFamily="2" charset="0"/>
                <a:ea typeface="Roboto" panose="02000000000000000000" pitchFamily="2" charset="0"/>
                <a:cs typeface="Roboto"/>
                <a:sym typeface="Roboto"/>
              </a:rPr>
              <a:t> </a:t>
            </a:r>
            <a:r>
              <a:rPr lang="en-US" sz="4999" dirty="0" err="1">
                <a:solidFill>
                  <a:srgbClr val="000000"/>
                </a:solidFill>
                <a:latin typeface="Roboto" panose="02000000000000000000" pitchFamily="2" charset="0"/>
                <a:ea typeface="Roboto" panose="02000000000000000000" pitchFamily="2" charset="0"/>
                <a:cs typeface="Roboto"/>
                <a:sym typeface="Roboto"/>
              </a:rPr>
              <a:t>Đức</a:t>
            </a:r>
            <a:endParaRPr lang="en-US" sz="4999" dirty="0">
              <a:solidFill>
                <a:srgbClr val="000000"/>
              </a:solidFill>
              <a:latin typeface="Roboto" panose="02000000000000000000" pitchFamily="2" charset="0"/>
              <a:ea typeface="Roboto" panose="02000000000000000000" pitchFamily="2" charset="0"/>
              <a:cs typeface="Roboto"/>
              <a:sym typeface="Roboto"/>
            </a:endParaRPr>
          </a:p>
          <a:p>
            <a:pPr marL="2311400" lvl="2" indent="-770467" algn="l">
              <a:lnSpc>
                <a:spcPts val="5399"/>
              </a:lnSpc>
            </a:pPr>
            <a:endParaRPr lang="en-US" sz="4999" dirty="0">
              <a:solidFill>
                <a:srgbClr val="000000"/>
              </a:solidFill>
              <a:latin typeface="Roboto" panose="02000000000000000000" pitchFamily="2" charset="0"/>
              <a:ea typeface="Roboto" panose="02000000000000000000" pitchFamily="2" charset="0"/>
              <a:cs typeface="Roboto"/>
              <a:sym typeface="Roboto"/>
            </a:endParaRPr>
          </a:p>
          <a:p>
            <a:pPr marL="2311400" lvl="2" indent="-770467" algn="l">
              <a:lnSpc>
                <a:spcPts val="5399"/>
              </a:lnSpc>
            </a:pPr>
            <a:endParaRPr lang="en-US" sz="4999" dirty="0">
              <a:solidFill>
                <a:srgbClr val="000000"/>
              </a:solidFill>
              <a:latin typeface="Roboto" panose="02000000000000000000" pitchFamily="2" charset="0"/>
              <a:ea typeface="Roboto" panose="02000000000000000000" pitchFamily="2" charset="0"/>
              <a:cs typeface="Roboto"/>
              <a:sym typeface="Roboto"/>
            </a:endParaRPr>
          </a:p>
        </p:txBody>
      </p:sp>
      <p:grpSp>
        <p:nvGrpSpPr>
          <p:cNvPr id="15" name="Group 15"/>
          <p:cNvGrpSpPr/>
          <p:nvPr/>
        </p:nvGrpSpPr>
        <p:grpSpPr>
          <a:xfrm>
            <a:off x="3458250" y="748276"/>
            <a:ext cx="12291000" cy="605400"/>
            <a:chOff x="0" y="0"/>
            <a:chExt cx="16388000" cy="807200"/>
          </a:xfrm>
        </p:grpSpPr>
        <p:sp>
          <p:nvSpPr>
            <p:cNvPr id="16" name="Freeform 16"/>
            <p:cNvSpPr/>
            <p:nvPr/>
          </p:nvSpPr>
          <p:spPr>
            <a:xfrm>
              <a:off x="0" y="0"/>
              <a:ext cx="16388000" cy="807200"/>
            </a:xfrm>
            <a:custGeom>
              <a:avLst/>
              <a:gdLst/>
              <a:ahLst/>
              <a:cxnLst/>
              <a:rect l="l" t="t" r="r" b="b"/>
              <a:pathLst>
                <a:path w="16388000" h="807200">
                  <a:moveTo>
                    <a:pt x="0" y="0"/>
                  </a:moveTo>
                  <a:lnTo>
                    <a:pt x="16388000" y="0"/>
                  </a:lnTo>
                  <a:lnTo>
                    <a:pt x="16388000" y="807200"/>
                  </a:lnTo>
                  <a:lnTo>
                    <a:pt x="0" y="807200"/>
                  </a:lnTo>
                  <a:close/>
                </a:path>
              </a:pathLst>
            </a:custGeom>
            <a:solidFill>
              <a:srgbClr val="000000">
                <a:alpha val="0"/>
              </a:srgbClr>
            </a:solidFill>
          </p:spPr>
        </p:sp>
        <p:sp>
          <p:nvSpPr>
            <p:cNvPr id="17" name="TextBox 17"/>
            <p:cNvSpPr txBox="1"/>
            <p:nvPr/>
          </p:nvSpPr>
          <p:spPr>
            <a:xfrm>
              <a:off x="0" y="28575"/>
              <a:ext cx="16388000" cy="778625"/>
            </a:xfrm>
            <a:prstGeom prst="rect">
              <a:avLst/>
            </a:prstGeom>
          </p:spPr>
          <p:txBody>
            <a:bodyPr lIns="0" tIns="0" rIns="0" bIns="0" rtlCol="0" anchor="ctr"/>
            <a:lstStyle/>
            <a:p>
              <a:pPr algn="l">
                <a:lnSpc>
                  <a:spcPts val="3672"/>
                </a:lnSpc>
              </a:pPr>
              <a:r>
                <a:rPr lang="en-US" sz="3400">
                  <a:solidFill>
                    <a:srgbClr val="FF9900"/>
                  </a:solidFill>
                  <a:latin typeface="Roboto"/>
                  <a:ea typeface="Roboto"/>
                  <a:cs typeface="Roboto"/>
                  <a:sym typeface="Roboto"/>
                </a:rPr>
                <a:t>Thành viên nhóm và giáo viên hướng dẫn</a:t>
              </a:r>
            </a:p>
          </p:txBody>
        </p:sp>
      </p:grpSp>
      <p:sp>
        <p:nvSpPr>
          <p:cNvPr id="18" name="TextBox 18"/>
          <p:cNvSpPr txBox="1"/>
          <p:nvPr/>
        </p:nvSpPr>
        <p:spPr>
          <a:xfrm>
            <a:off x="393088" y="2178427"/>
            <a:ext cx="11510945" cy="1480947"/>
          </a:xfrm>
          <a:prstGeom prst="rect">
            <a:avLst/>
          </a:prstGeom>
        </p:spPr>
        <p:txBody>
          <a:bodyPr lIns="0" tIns="0" rIns="0" bIns="0" rtlCol="0" anchor="t">
            <a:spAutoFit/>
          </a:bodyPr>
          <a:lstStyle/>
          <a:p>
            <a:pPr marL="1541780" lvl="1" indent="-770890" algn="l">
              <a:lnSpc>
                <a:spcPts val="6048"/>
              </a:lnSpc>
              <a:buFont typeface="Arial"/>
              <a:buChar char="•"/>
            </a:pPr>
            <a:r>
              <a:rPr lang="en-US" sz="5599" b="1" dirty="0" err="1">
                <a:solidFill>
                  <a:srgbClr val="000000"/>
                </a:solidFill>
                <a:latin typeface="Roboto Bold"/>
                <a:ea typeface="Roboto Bold"/>
                <a:cs typeface="Roboto Bold"/>
                <a:sym typeface="Roboto Bold"/>
              </a:rPr>
              <a:t>Giáo</a:t>
            </a:r>
            <a:r>
              <a:rPr lang="en-US" sz="5599" b="1" dirty="0">
                <a:solidFill>
                  <a:srgbClr val="000000"/>
                </a:solidFill>
                <a:latin typeface="Roboto Bold"/>
                <a:ea typeface="Roboto Bold"/>
                <a:cs typeface="Roboto Bold"/>
                <a:sym typeface="Roboto Bold"/>
              </a:rPr>
              <a:t> </a:t>
            </a:r>
            <a:r>
              <a:rPr lang="en-US" sz="5599" b="1" dirty="0" err="1">
                <a:solidFill>
                  <a:srgbClr val="000000"/>
                </a:solidFill>
                <a:latin typeface="Roboto Bold"/>
                <a:ea typeface="Roboto Bold"/>
                <a:cs typeface="Roboto Bold"/>
                <a:sym typeface="Roboto Bold"/>
              </a:rPr>
              <a:t>viên</a:t>
            </a:r>
            <a:r>
              <a:rPr lang="en-US" sz="5599" b="1" dirty="0">
                <a:solidFill>
                  <a:srgbClr val="000000"/>
                </a:solidFill>
                <a:latin typeface="Roboto Bold"/>
                <a:ea typeface="Roboto Bold"/>
                <a:cs typeface="Roboto Bold"/>
                <a:sym typeface="Roboto Bold"/>
              </a:rPr>
              <a:t> </a:t>
            </a:r>
            <a:r>
              <a:rPr lang="en-US" sz="5599" b="1" dirty="0" err="1">
                <a:solidFill>
                  <a:srgbClr val="000000"/>
                </a:solidFill>
                <a:latin typeface="Roboto Bold"/>
                <a:ea typeface="Roboto Bold"/>
                <a:cs typeface="Roboto Bold"/>
                <a:sym typeface="Roboto Bold"/>
              </a:rPr>
              <a:t>hướng</a:t>
            </a:r>
            <a:r>
              <a:rPr lang="en-US" sz="5599" b="1" dirty="0">
                <a:solidFill>
                  <a:srgbClr val="000000"/>
                </a:solidFill>
                <a:latin typeface="Roboto Bold"/>
                <a:ea typeface="Roboto Bold"/>
                <a:cs typeface="Roboto Bold"/>
                <a:sym typeface="Roboto Bold"/>
              </a:rPr>
              <a:t> </a:t>
            </a:r>
            <a:r>
              <a:rPr lang="en-US" sz="5599" b="1" dirty="0" err="1">
                <a:solidFill>
                  <a:srgbClr val="000000"/>
                </a:solidFill>
                <a:latin typeface="Roboto Bold"/>
                <a:ea typeface="Roboto Bold"/>
                <a:cs typeface="Roboto Bold"/>
                <a:sym typeface="Roboto Bold"/>
              </a:rPr>
              <a:t>dẫn</a:t>
            </a:r>
            <a:r>
              <a:rPr lang="en-US" sz="5599" b="1" dirty="0">
                <a:solidFill>
                  <a:srgbClr val="000000"/>
                </a:solidFill>
                <a:latin typeface="Roboto Bold"/>
                <a:ea typeface="Roboto Bold"/>
                <a:cs typeface="Roboto Bold"/>
                <a:sym typeface="Roboto Bold"/>
              </a:rPr>
              <a:t>:</a:t>
            </a:r>
          </a:p>
          <a:p>
            <a:pPr marL="2311400" lvl="2" indent="-770467" algn="l">
              <a:lnSpc>
                <a:spcPts val="5399"/>
              </a:lnSpc>
              <a:buFont typeface="Arial"/>
              <a:buChar char="⚬"/>
            </a:pPr>
            <a:r>
              <a:rPr lang="en-US" sz="4999" dirty="0" err="1">
                <a:solidFill>
                  <a:srgbClr val="000000"/>
                </a:solidFill>
                <a:latin typeface="Roboto"/>
                <a:ea typeface="Roboto"/>
                <a:cs typeface="Roboto"/>
                <a:sym typeface="Roboto"/>
              </a:rPr>
              <a:t>Nguyễn</a:t>
            </a:r>
            <a:r>
              <a:rPr lang="en-US" sz="4999" dirty="0">
                <a:solidFill>
                  <a:srgbClr val="000000"/>
                </a:solidFill>
                <a:latin typeface="Roboto"/>
                <a:ea typeface="Roboto"/>
                <a:cs typeface="Roboto"/>
                <a:sym typeface="Roboto"/>
              </a:rPr>
              <a:t> Minh </a:t>
            </a:r>
            <a:r>
              <a:rPr lang="en-US" sz="4999" dirty="0" err="1">
                <a:solidFill>
                  <a:srgbClr val="000000"/>
                </a:solidFill>
                <a:latin typeface="Roboto"/>
                <a:ea typeface="Roboto"/>
                <a:cs typeface="Roboto"/>
                <a:sym typeface="Roboto"/>
              </a:rPr>
              <a:t>Phúc</a:t>
            </a:r>
            <a:endParaRPr lang="en-US" sz="4999" dirty="0">
              <a:solidFill>
                <a:srgbClr val="000000"/>
              </a:solidFill>
              <a:latin typeface="Roboto"/>
              <a:ea typeface="Roboto"/>
              <a:cs typeface="Roboto"/>
              <a:sym typeface="Roboto"/>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sp>
      <p:grpSp>
        <p:nvGrpSpPr>
          <p:cNvPr id="3" name="Group 3"/>
          <p:cNvGrpSpPr>
            <a:grpSpLocks noChangeAspect="1"/>
          </p:cNvGrpSpPr>
          <p:nvPr/>
        </p:nvGrpSpPr>
        <p:grpSpPr>
          <a:xfrm>
            <a:off x="155352" y="-409644"/>
            <a:ext cx="2203894" cy="2203894"/>
            <a:chOff x="0" y="0"/>
            <a:chExt cx="2938525" cy="2938525"/>
          </a:xfrm>
        </p:grpSpPr>
        <p:sp>
          <p:nvSpPr>
            <p:cNvPr id="4" name="Freeform 4"/>
            <p:cNvSpPr/>
            <p:nvPr/>
          </p:nvSpPr>
          <p:spPr>
            <a:xfrm>
              <a:off x="0" y="0"/>
              <a:ext cx="2938526" cy="2938526"/>
            </a:xfrm>
            <a:custGeom>
              <a:avLst/>
              <a:gdLst/>
              <a:ahLst/>
              <a:cxnLst/>
              <a:rect l="l" t="t" r="r" b="b"/>
              <a:pathLst>
                <a:path w="2938526" h="2938526">
                  <a:moveTo>
                    <a:pt x="0" y="0"/>
                  </a:moveTo>
                  <a:lnTo>
                    <a:pt x="2938526" y="0"/>
                  </a:lnTo>
                  <a:lnTo>
                    <a:pt x="2938526" y="2938526"/>
                  </a:lnTo>
                  <a:lnTo>
                    <a:pt x="0" y="2938526"/>
                  </a:lnTo>
                  <a:lnTo>
                    <a:pt x="0" y="0"/>
                  </a:lnTo>
                  <a:close/>
                </a:path>
              </a:pathLst>
            </a:custGeom>
            <a:blipFill>
              <a:blip r:embed="rId4"/>
              <a:stretch>
                <a:fillRect/>
              </a:stretch>
            </a:blipFill>
          </p:spPr>
        </p:sp>
      </p:grpSp>
      <p:grpSp>
        <p:nvGrpSpPr>
          <p:cNvPr id="5" name="Group 5"/>
          <p:cNvGrpSpPr>
            <a:grpSpLocks noChangeAspect="1"/>
          </p:cNvGrpSpPr>
          <p:nvPr/>
        </p:nvGrpSpPr>
        <p:grpSpPr>
          <a:xfrm>
            <a:off x="15683212" y="140336"/>
            <a:ext cx="2486026" cy="1085850"/>
            <a:chOff x="0" y="0"/>
            <a:chExt cx="3314701" cy="1447800"/>
          </a:xfrm>
        </p:grpSpPr>
        <p:sp>
          <p:nvSpPr>
            <p:cNvPr id="6" name="Freeform 6"/>
            <p:cNvSpPr/>
            <p:nvPr/>
          </p:nvSpPr>
          <p:spPr>
            <a:xfrm>
              <a:off x="0" y="0"/>
              <a:ext cx="3314700" cy="1447800"/>
            </a:xfrm>
            <a:custGeom>
              <a:avLst/>
              <a:gdLst/>
              <a:ahLst/>
              <a:cxnLst/>
              <a:rect l="l" t="t" r="r" b="b"/>
              <a:pathLst>
                <a:path w="3314700" h="1447800">
                  <a:moveTo>
                    <a:pt x="0" y="0"/>
                  </a:moveTo>
                  <a:lnTo>
                    <a:pt x="3314700" y="0"/>
                  </a:lnTo>
                  <a:lnTo>
                    <a:pt x="3314700" y="1447800"/>
                  </a:lnTo>
                  <a:lnTo>
                    <a:pt x="0" y="1447800"/>
                  </a:lnTo>
                  <a:lnTo>
                    <a:pt x="0" y="0"/>
                  </a:lnTo>
                  <a:close/>
                </a:path>
              </a:pathLst>
            </a:custGeom>
            <a:blipFill>
              <a:blip r:embed="rId5"/>
              <a:stretch>
                <a:fillRect/>
              </a:stretch>
            </a:blipFill>
          </p:spPr>
        </p:sp>
      </p:grpSp>
      <p:grpSp>
        <p:nvGrpSpPr>
          <p:cNvPr id="7" name="Group 7"/>
          <p:cNvGrpSpPr/>
          <p:nvPr/>
        </p:nvGrpSpPr>
        <p:grpSpPr>
          <a:xfrm>
            <a:off x="2670196" y="143026"/>
            <a:ext cx="62400" cy="1056000"/>
            <a:chOff x="0" y="0"/>
            <a:chExt cx="83200" cy="1408000"/>
          </a:xfrm>
        </p:grpSpPr>
        <p:sp>
          <p:nvSpPr>
            <p:cNvPr id="8" name="Freeform 8"/>
            <p:cNvSpPr/>
            <p:nvPr/>
          </p:nvSpPr>
          <p:spPr>
            <a:xfrm>
              <a:off x="0" y="0"/>
              <a:ext cx="83185" cy="1408049"/>
            </a:xfrm>
            <a:custGeom>
              <a:avLst/>
              <a:gdLst/>
              <a:ahLst/>
              <a:cxnLst/>
              <a:rect l="l" t="t" r="r" b="b"/>
              <a:pathLst>
                <a:path w="83185" h="1408049">
                  <a:moveTo>
                    <a:pt x="0" y="0"/>
                  </a:moveTo>
                  <a:lnTo>
                    <a:pt x="83185" y="0"/>
                  </a:lnTo>
                  <a:lnTo>
                    <a:pt x="83185" y="1408049"/>
                  </a:lnTo>
                  <a:lnTo>
                    <a:pt x="0" y="1408049"/>
                  </a:lnTo>
                  <a:close/>
                </a:path>
              </a:pathLst>
            </a:custGeom>
            <a:solidFill>
              <a:srgbClr val="F5A700"/>
            </a:solidFill>
          </p:spPr>
        </p:sp>
      </p:grpSp>
      <p:grpSp>
        <p:nvGrpSpPr>
          <p:cNvPr id="9" name="Group 9"/>
          <p:cNvGrpSpPr/>
          <p:nvPr/>
        </p:nvGrpSpPr>
        <p:grpSpPr>
          <a:xfrm>
            <a:off x="2882476" y="878062"/>
            <a:ext cx="625800" cy="321600"/>
            <a:chOff x="0" y="0"/>
            <a:chExt cx="834400" cy="428800"/>
          </a:xfrm>
        </p:grpSpPr>
        <p:sp>
          <p:nvSpPr>
            <p:cNvPr id="10" name="Freeform 10"/>
            <p:cNvSpPr/>
            <p:nvPr/>
          </p:nvSpPr>
          <p:spPr>
            <a:xfrm>
              <a:off x="0" y="0"/>
              <a:ext cx="834390" cy="428752"/>
            </a:xfrm>
            <a:custGeom>
              <a:avLst/>
              <a:gdLst/>
              <a:ahLst/>
              <a:cxnLst/>
              <a:rect l="l" t="t" r="r" b="b"/>
              <a:pathLst>
                <a:path w="834390" h="428752">
                  <a:moveTo>
                    <a:pt x="0" y="0"/>
                  </a:moveTo>
                  <a:lnTo>
                    <a:pt x="575310" y="0"/>
                  </a:lnTo>
                  <a:lnTo>
                    <a:pt x="834390" y="214376"/>
                  </a:lnTo>
                  <a:lnTo>
                    <a:pt x="575310" y="428752"/>
                  </a:lnTo>
                  <a:lnTo>
                    <a:pt x="0" y="428752"/>
                  </a:lnTo>
                  <a:close/>
                </a:path>
              </a:pathLst>
            </a:custGeom>
            <a:solidFill>
              <a:srgbClr val="0033CC"/>
            </a:solidFill>
          </p:spPr>
        </p:sp>
      </p:grpSp>
      <p:grpSp>
        <p:nvGrpSpPr>
          <p:cNvPr id="11" name="Group 11"/>
          <p:cNvGrpSpPr>
            <a:grpSpLocks noChangeAspect="1"/>
          </p:cNvGrpSpPr>
          <p:nvPr/>
        </p:nvGrpSpPr>
        <p:grpSpPr>
          <a:xfrm>
            <a:off x="10778788" y="4922738"/>
            <a:ext cx="6686552" cy="3688052"/>
            <a:chOff x="0" y="0"/>
            <a:chExt cx="8915403" cy="4917403"/>
          </a:xfrm>
        </p:grpSpPr>
        <p:sp>
          <p:nvSpPr>
            <p:cNvPr id="12" name="Freeform 12" descr="Thiết kế website cửa hàng bánh ngọt - cửa hàng kem | MONA Media"/>
            <p:cNvSpPr/>
            <p:nvPr/>
          </p:nvSpPr>
          <p:spPr>
            <a:xfrm>
              <a:off x="0" y="0"/>
              <a:ext cx="8915400" cy="4917440"/>
            </a:xfrm>
            <a:custGeom>
              <a:avLst/>
              <a:gdLst/>
              <a:ahLst/>
              <a:cxnLst/>
              <a:rect l="l" t="t" r="r" b="b"/>
              <a:pathLst>
                <a:path w="8915400" h="4917440">
                  <a:moveTo>
                    <a:pt x="0" y="0"/>
                  </a:moveTo>
                  <a:lnTo>
                    <a:pt x="8915400" y="0"/>
                  </a:lnTo>
                  <a:lnTo>
                    <a:pt x="8915400" y="4917440"/>
                  </a:lnTo>
                  <a:lnTo>
                    <a:pt x="0" y="4917440"/>
                  </a:lnTo>
                  <a:lnTo>
                    <a:pt x="0" y="0"/>
                  </a:lnTo>
                  <a:close/>
                </a:path>
              </a:pathLst>
            </a:custGeom>
            <a:blipFill>
              <a:blip r:embed="rId6"/>
              <a:stretch>
                <a:fillRect r="-5"/>
              </a:stretch>
            </a:blipFill>
          </p:spPr>
        </p:sp>
      </p:grpSp>
      <p:grpSp>
        <p:nvGrpSpPr>
          <p:cNvPr id="13" name="Group 13"/>
          <p:cNvGrpSpPr/>
          <p:nvPr/>
        </p:nvGrpSpPr>
        <p:grpSpPr>
          <a:xfrm>
            <a:off x="3046921" y="65626"/>
            <a:ext cx="15004800" cy="605400"/>
            <a:chOff x="0" y="0"/>
            <a:chExt cx="20006400" cy="807200"/>
          </a:xfrm>
        </p:grpSpPr>
        <p:sp>
          <p:nvSpPr>
            <p:cNvPr id="14" name="Freeform 14"/>
            <p:cNvSpPr/>
            <p:nvPr/>
          </p:nvSpPr>
          <p:spPr>
            <a:xfrm>
              <a:off x="0" y="0"/>
              <a:ext cx="20006401" cy="807200"/>
            </a:xfrm>
            <a:custGeom>
              <a:avLst/>
              <a:gdLst/>
              <a:ahLst/>
              <a:cxnLst/>
              <a:rect l="l" t="t" r="r" b="b"/>
              <a:pathLst>
                <a:path w="20006401" h="807200">
                  <a:moveTo>
                    <a:pt x="0" y="0"/>
                  </a:moveTo>
                  <a:lnTo>
                    <a:pt x="20006401" y="0"/>
                  </a:lnTo>
                  <a:lnTo>
                    <a:pt x="20006401" y="807200"/>
                  </a:lnTo>
                  <a:lnTo>
                    <a:pt x="0" y="807200"/>
                  </a:lnTo>
                  <a:close/>
                </a:path>
              </a:pathLst>
            </a:custGeom>
            <a:solidFill>
              <a:srgbClr val="000000">
                <a:alpha val="0"/>
              </a:srgbClr>
            </a:solidFill>
          </p:spPr>
        </p:sp>
        <p:sp>
          <p:nvSpPr>
            <p:cNvPr id="15" name="TextBox 15"/>
            <p:cNvSpPr txBox="1"/>
            <p:nvPr/>
          </p:nvSpPr>
          <p:spPr>
            <a:xfrm>
              <a:off x="0" y="19050"/>
              <a:ext cx="20006400" cy="788150"/>
            </a:xfrm>
            <a:prstGeom prst="rect">
              <a:avLst/>
            </a:prstGeom>
          </p:spPr>
          <p:txBody>
            <a:bodyPr lIns="0" tIns="0" rIns="0" bIns="0" rtlCol="0" anchor="ctr"/>
            <a:lstStyle/>
            <a:p>
              <a:pPr algn="l">
                <a:lnSpc>
                  <a:spcPts val="3304"/>
                </a:lnSpc>
              </a:pPr>
              <a:r>
                <a:rPr lang="en-US" sz="3060">
                  <a:solidFill>
                    <a:srgbClr val="FF9900"/>
                  </a:solidFill>
                  <a:latin typeface="Roboto"/>
                  <a:ea typeface="Roboto"/>
                  <a:cs typeface="Roboto"/>
                  <a:sym typeface="Roboto"/>
                </a:rPr>
                <a:t>Giới Thiệu Đề Tài</a:t>
              </a:r>
            </a:p>
          </p:txBody>
        </p:sp>
      </p:grpSp>
      <p:sp>
        <p:nvSpPr>
          <p:cNvPr id="16" name="TextBox 16"/>
          <p:cNvSpPr txBox="1"/>
          <p:nvPr/>
        </p:nvSpPr>
        <p:spPr>
          <a:xfrm>
            <a:off x="413342" y="1956175"/>
            <a:ext cx="9463648" cy="3228975"/>
          </a:xfrm>
          <a:prstGeom prst="rect">
            <a:avLst/>
          </a:prstGeom>
        </p:spPr>
        <p:txBody>
          <a:bodyPr lIns="0" tIns="0" rIns="0" bIns="0" rtlCol="0" anchor="t">
            <a:spAutoFit/>
          </a:bodyPr>
          <a:lstStyle/>
          <a:p>
            <a:pPr algn="l">
              <a:lnSpc>
                <a:spcPts val="3695"/>
              </a:lnSpc>
            </a:pPr>
            <a:r>
              <a:rPr lang="en-US" sz="2799">
                <a:solidFill>
                  <a:srgbClr val="000000"/>
                </a:solidFill>
                <a:latin typeface="Times New Roman"/>
                <a:ea typeface="Times New Roman"/>
                <a:cs typeface="Times New Roman"/>
                <a:sym typeface="Times New Roman"/>
              </a:rPr>
              <a:t>Trong thời đại công nghệ số, các nền tảng thương mại điện tử ngày càng phát triển mạnh mẽ, mang đến sự tiện lợi cho người tiêu dùng. Xuất phát từ nhu cầu đó, nhóm đã chọn đề tài </a:t>
            </a:r>
            <a:r>
              <a:rPr lang="en-US" sz="2799" b="1">
                <a:solidFill>
                  <a:srgbClr val="000000"/>
                </a:solidFill>
                <a:latin typeface="Times New Roman Bold"/>
                <a:ea typeface="Times New Roman Bold"/>
                <a:cs typeface="Times New Roman Bold"/>
                <a:sym typeface="Times New Roman Bold"/>
              </a:rPr>
              <a:t>“Kiểm thử ứng dụng Web bán bánh – Sweet Sip”</a:t>
            </a:r>
            <a:r>
              <a:rPr lang="en-US" sz="2799">
                <a:solidFill>
                  <a:srgbClr val="000000"/>
                </a:solidFill>
                <a:latin typeface="Times New Roman"/>
                <a:ea typeface="Times New Roman"/>
                <a:cs typeface="Times New Roman"/>
                <a:sym typeface="Times New Roman"/>
              </a:rPr>
              <a:t> nhằm áp dụng kiến thức về </a:t>
            </a:r>
            <a:r>
              <a:rPr lang="en-US" sz="2799" b="1">
                <a:solidFill>
                  <a:srgbClr val="000000"/>
                </a:solidFill>
                <a:latin typeface="Times New Roman Bold"/>
                <a:ea typeface="Times New Roman Bold"/>
                <a:cs typeface="Times New Roman Bold"/>
                <a:sym typeface="Times New Roman Bold"/>
              </a:rPr>
              <a:t>Kiểm thử và Đảm bảo chất lượng phần mềm</a:t>
            </a:r>
            <a:r>
              <a:rPr lang="en-US" sz="2799">
                <a:solidFill>
                  <a:srgbClr val="000000"/>
                </a:solidFill>
                <a:latin typeface="Times New Roman"/>
                <a:ea typeface="Times New Roman"/>
                <a:cs typeface="Times New Roman"/>
                <a:sym typeface="Times New Roman"/>
              </a:rPr>
              <a:t> vào một hệ thống thương mại điện tử thực tế.</a:t>
            </a:r>
          </a:p>
          <a:p>
            <a:pPr algn="l">
              <a:lnSpc>
                <a:spcPts val="3023"/>
              </a:lnSpc>
            </a:pPr>
            <a:endParaRPr lang="en-US" sz="2799">
              <a:solidFill>
                <a:srgbClr val="000000"/>
              </a:solidFill>
              <a:latin typeface="Times New Roman"/>
              <a:ea typeface="Times New Roman"/>
              <a:cs typeface="Times New Roman"/>
              <a:sym typeface="Times New Roman"/>
            </a:endParaRPr>
          </a:p>
        </p:txBody>
      </p:sp>
      <p:grpSp>
        <p:nvGrpSpPr>
          <p:cNvPr id="17" name="Group 17"/>
          <p:cNvGrpSpPr/>
          <p:nvPr/>
        </p:nvGrpSpPr>
        <p:grpSpPr>
          <a:xfrm>
            <a:off x="3458250" y="748276"/>
            <a:ext cx="12291000" cy="605400"/>
            <a:chOff x="0" y="0"/>
            <a:chExt cx="16388000" cy="807200"/>
          </a:xfrm>
        </p:grpSpPr>
        <p:sp>
          <p:nvSpPr>
            <p:cNvPr id="18" name="Freeform 18"/>
            <p:cNvSpPr/>
            <p:nvPr/>
          </p:nvSpPr>
          <p:spPr>
            <a:xfrm>
              <a:off x="0" y="0"/>
              <a:ext cx="16388000" cy="807200"/>
            </a:xfrm>
            <a:custGeom>
              <a:avLst/>
              <a:gdLst/>
              <a:ahLst/>
              <a:cxnLst/>
              <a:rect l="l" t="t" r="r" b="b"/>
              <a:pathLst>
                <a:path w="16388000" h="807200">
                  <a:moveTo>
                    <a:pt x="0" y="0"/>
                  </a:moveTo>
                  <a:lnTo>
                    <a:pt x="16388000" y="0"/>
                  </a:lnTo>
                  <a:lnTo>
                    <a:pt x="16388000" y="807200"/>
                  </a:lnTo>
                  <a:lnTo>
                    <a:pt x="0" y="807200"/>
                  </a:lnTo>
                  <a:close/>
                </a:path>
              </a:pathLst>
            </a:custGeom>
            <a:solidFill>
              <a:srgbClr val="000000">
                <a:alpha val="0"/>
              </a:srgbClr>
            </a:solidFill>
          </p:spPr>
        </p:sp>
        <p:sp>
          <p:nvSpPr>
            <p:cNvPr id="19" name="TextBox 19"/>
            <p:cNvSpPr txBox="1"/>
            <p:nvPr/>
          </p:nvSpPr>
          <p:spPr>
            <a:xfrm>
              <a:off x="0" y="28575"/>
              <a:ext cx="16388000" cy="778625"/>
            </a:xfrm>
            <a:prstGeom prst="rect">
              <a:avLst/>
            </a:prstGeom>
          </p:spPr>
          <p:txBody>
            <a:bodyPr lIns="0" tIns="0" rIns="0" bIns="0" rtlCol="0" anchor="ctr"/>
            <a:lstStyle/>
            <a:p>
              <a:pPr algn="l">
                <a:lnSpc>
                  <a:spcPts val="3672"/>
                </a:lnSpc>
              </a:pPr>
              <a:r>
                <a:rPr lang="en-US" sz="3400">
                  <a:solidFill>
                    <a:srgbClr val="FF9900"/>
                  </a:solidFill>
                  <a:latin typeface="Roboto"/>
                  <a:ea typeface="Roboto"/>
                  <a:cs typeface="Roboto"/>
                  <a:sym typeface="Roboto"/>
                </a:rPr>
                <a:t>Web Bán Bánh-Sweet Sip</a:t>
              </a:r>
            </a:p>
          </p:txBody>
        </p:sp>
      </p:grpSp>
      <p:grpSp>
        <p:nvGrpSpPr>
          <p:cNvPr id="20" name="Group 20"/>
          <p:cNvGrpSpPr>
            <a:grpSpLocks noChangeAspect="1"/>
          </p:cNvGrpSpPr>
          <p:nvPr/>
        </p:nvGrpSpPr>
        <p:grpSpPr>
          <a:xfrm>
            <a:off x="10036264" y="1050976"/>
            <a:ext cx="5875756" cy="3871762"/>
            <a:chOff x="0" y="0"/>
            <a:chExt cx="7834341" cy="5162349"/>
          </a:xfrm>
        </p:grpSpPr>
        <p:sp>
          <p:nvSpPr>
            <p:cNvPr id="21" name="Freeform 21" descr="Source Code bán hàng bánh ngọt bằng Flatsome Full code"/>
            <p:cNvSpPr/>
            <p:nvPr/>
          </p:nvSpPr>
          <p:spPr>
            <a:xfrm>
              <a:off x="0" y="0"/>
              <a:ext cx="7834376" cy="5162296"/>
            </a:xfrm>
            <a:custGeom>
              <a:avLst/>
              <a:gdLst/>
              <a:ahLst/>
              <a:cxnLst/>
              <a:rect l="l" t="t" r="r" b="b"/>
              <a:pathLst>
                <a:path w="7834376" h="5162296">
                  <a:moveTo>
                    <a:pt x="0" y="0"/>
                  </a:moveTo>
                  <a:lnTo>
                    <a:pt x="7834376" y="0"/>
                  </a:lnTo>
                  <a:lnTo>
                    <a:pt x="7834376" y="5162296"/>
                  </a:lnTo>
                  <a:lnTo>
                    <a:pt x="0" y="5162296"/>
                  </a:lnTo>
                  <a:lnTo>
                    <a:pt x="0" y="0"/>
                  </a:lnTo>
                  <a:close/>
                </a:path>
              </a:pathLst>
            </a:custGeom>
            <a:blipFill>
              <a:blip r:embed="rId7"/>
              <a:stretch>
                <a:fillRect b="-2"/>
              </a:stretch>
            </a:blipFill>
          </p:spPr>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sp>
      <p:grpSp>
        <p:nvGrpSpPr>
          <p:cNvPr id="3" name="Group 3"/>
          <p:cNvGrpSpPr>
            <a:grpSpLocks noChangeAspect="1"/>
          </p:cNvGrpSpPr>
          <p:nvPr/>
        </p:nvGrpSpPr>
        <p:grpSpPr>
          <a:xfrm>
            <a:off x="155352" y="-409644"/>
            <a:ext cx="2203894" cy="2203894"/>
            <a:chOff x="0" y="0"/>
            <a:chExt cx="2938525" cy="2938525"/>
          </a:xfrm>
        </p:grpSpPr>
        <p:sp>
          <p:nvSpPr>
            <p:cNvPr id="4" name="Freeform 4"/>
            <p:cNvSpPr/>
            <p:nvPr/>
          </p:nvSpPr>
          <p:spPr>
            <a:xfrm>
              <a:off x="0" y="0"/>
              <a:ext cx="2938526" cy="2938526"/>
            </a:xfrm>
            <a:custGeom>
              <a:avLst/>
              <a:gdLst/>
              <a:ahLst/>
              <a:cxnLst/>
              <a:rect l="l" t="t" r="r" b="b"/>
              <a:pathLst>
                <a:path w="2938526" h="2938526">
                  <a:moveTo>
                    <a:pt x="0" y="0"/>
                  </a:moveTo>
                  <a:lnTo>
                    <a:pt x="2938526" y="0"/>
                  </a:lnTo>
                  <a:lnTo>
                    <a:pt x="2938526" y="2938526"/>
                  </a:lnTo>
                  <a:lnTo>
                    <a:pt x="0" y="2938526"/>
                  </a:lnTo>
                  <a:lnTo>
                    <a:pt x="0" y="0"/>
                  </a:lnTo>
                  <a:close/>
                </a:path>
              </a:pathLst>
            </a:custGeom>
            <a:blipFill>
              <a:blip r:embed="rId4"/>
              <a:stretch>
                <a:fillRect/>
              </a:stretch>
            </a:blipFill>
          </p:spPr>
        </p:sp>
      </p:grpSp>
      <p:grpSp>
        <p:nvGrpSpPr>
          <p:cNvPr id="5" name="Group 5"/>
          <p:cNvGrpSpPr>
            <a:grpSpLocks noChangeAspect="1"/>
          </p:cNvGrpSpPr>
          <p:nvPr/>
        </p:nvGrpSpPr>
        <p:grpSpPr>
          <a:xfrm>
            <a:off x="15683212" y="140336"/>
            <a:ext cx="2486026" cy="1085850"/>
            <a:chOff x="0" y="0"/>
            <a:chExt cx="3314701" cy="1447800"/>
          </a:xfrm>
        </p:grpSpPr>
        <p:sp>
          <p:nvSpPr>
            <p:cNvPr id="6" name="Freeform 6"/>
            <p:cNvSpPr/>
            <p:nvPr/>
          </p:nvSpPr>
          <p:spPr>
            <a:xfrm>
              <a:off x="0" y="0"/>
              <a:ext cx="3314700" cy="1447800"/>
            </a:xfrm>
            <a:custGeom>
              <a:avLst/>
              <a:gdLst/>
              <a:ahLst/>
              <a:cxnLst/>
              <a:rect l="l" t="t" r="r" b="b"/>
              <a:pathLst>
                <a:path w="3314700" h="1447800">
                  <a:moveTo>
                    <a:pt x="0" y="0"/>
                  </a:moveTo>
                  <a:lnTo>
                    <a:pt x="3314700" y="0"/>
                  </a:lnTo>
                  <a:lnTo>
                    <a:pt x="3314700" y="1447800"/>
                  </a:lnTo>
                  <a:lnTo>
                    <a:pt x="0" y="1447800"/>
                  </a:lnTo>
                  <a:lnTo>
                    <a:pt x="0" y="0"/>
                  </a:lnTo>
                  <a:close/>
                </a:path>
              </a:pathLst>
            </a:custGeom>
            <a:blipFill>
              <a:blip r:embed="rId5"/>
              <a:stretch>
                <a:fillRect/>
              </a:stretch>
            </a:blipFill>
          </p:spPr>
        </p:sp>
      </p:grpSp>
      <p:grpSp>
        <p:nvGrpSpPr>
          <p:cNvPr id="7" name="Group 7"/>
          <p:cNvGrpSpPr/>
          <p:nvPr/>
        </p:nvGrpSpPr>
        <p:grpSpPr>
          <a:xfrm>
            <a:off x="2670196" y="143026"/>
            <a:ext cx="62400" cy="1056000"/>
            <a:chOff x="0" y="0"/>
            <a:chExt cx="83200" cy="1408000"/>
          </a:xfrm>
        </p:grpSpPr>
        <p:sp>
          <p:nvSpPr>
            <p:cNvPr id="8" name="Freeform 8"/>
            <p:cNvSpPr/>
            <p:nvPr/>
          </p:nvSpPr>
          <p:spPr>
            <a:xfrm>
              <a:off x="0" y="0"/>
              <a:ext cx="83185" cy="1408049"/>
            </a:xfrm>
            <a:custGeom>
              <a:avLst/>
              <a:gdLst/>
              <a:ahLst/>
              <a:cxnLst/>
              <a:rect l="l" t="t" r="r" b="b"/>
              <a:pathLst>
                <a:path w="83185" h="1408049">
                  <a:moveTo>
                    <a:pt x="0" y="0"/>
                  </a:moveTo>
                  <a:lnTo>
                    <a:pt x="83185" y="0"/>
                  </a:lnTo>
                  <a:lnTo>
                    <a:pt x="83185" y="1408049"/>
                  </a:lnTo>
                  <a:lnTo>
                    <a:pt x="0" y="1408049"/>
                  </a:lnTo>
                  <a:close/>
                </a:path>
              </a:pathLst>
            </a:custGeom>
            <a:solidFill>
              <a:srgbClr val="F5A700"/>
            </a:solidFill>
          </p:spPr>
        </p:sp>
      </p:grpSp>
      <p:grpSp>
        <p:nvGrpSpPr>
          <p:cNvPr id="9" name="Group 9"/>
          <p:cNvGrpSpPr/>
          <p:nvPr/>
        </p:nvGrpSpPr>
        <p:grpSpPr>
          <a:xfrm>
            <a:off x="2882476" y="878062"/>
            <a:ext cx="625800" cy="321600"/>
            <a:chOff x="0" y="0"/>
            <a:chExt cx="834400" cy="428800"/>
          </a:xfrm>
        </p:grpSpPr>
        <p:sp>
          <p:nvSpPr>
            <p:cNvPr id="10" name="Freeform 10"/>
            <p:cNvSpPr/>
            <p:nvPr/>
          </p:nvSpPr>
          <p:spPr>
            <a:xfrm>
              <a:off x="0" y="0"/>
              <a:ext cx="834390" cy="428752"/>
            </a:xfrm>
            <a:custGeom>
              <a:avLst/>
              <a:gdLst/>
              <a:ahLst/>
              <a:cxnLst/>
              <a:rect l="l" t="t" r="r" b="b"/>
              <a:pathLst>
                <a:path w="834390" h="428752">
                  <a:moveTo>
                    <a:pt x="0" y="0"/>
                  </a:moveTo>
                  <a:lnTo>
                    <a:pt x="575310" y="0"/>
                  </a:lnTo>
                  <a:lnTo>
                    <a:pt x="834390" y="214376"/>
                  </a:lnTo>
                  <a:lnTo>
                    <a:pt x="575310" y="428752"/>
                  </a:lnTo>
                  <a:lnTo>
                    <a:pt x="0" y="428752"/>
                  </a:lnTo>
                  <a:close/>
                </a:path>
              </a:pathLst>
            </a:custGeom>
            <a:solidFill>
              <a:srgbClr val="0033CC"/>
            </a:solidFill>
          </p:spPr>
        </p:sp>
      </p:grpSp>
      <p:grpSp>
        <p:nvGrpSpPr>
          <p:cNvPr id="11" name="Group 11"/>
          <p:cNvGrpSpPr/>
          <p:nvPr/>
        </p:nvGrpSpPr>
        <p:grpSpPr>
          <a:xfrm>
            <a:off x="3660676" y="727612"/>
            <a:ext cx="15004800" cy="605400"/>
            <a:chOff x="0" y="0"/>
            <a:chExt cx="20006400" cy="807200"/>
          </a:xfrm>
        </p:grpSpPr>
        <p:sp>
          <p:nvSpPr>
            <p:cNvPr id="12" name="Freeform 12"/>
            <p:cNvSpPr/>
            <p:nvPr/>
          </p:nvSpPr>
          <p:spPr>
            <a:xfrm>
              <a:off x="0" y="0"/>
              <a:ext cx="20006401" cy="807200"/>
            </a:xfrm>
            <a:custGeom>
              <a:avLst/>
              <a:gdLst/>
              <a:ahLst/>
              <a:cxnLst/>
              <a:rect l="l" t="t" r="r" b="b"/>
              <a:pathLst>
                <a:path w="20006401" h="807200">
                  <a:moveTo>
                    <a:pt x="0" y="0"/>
                  </a:moveTo>
                  <a:lnTo>
                    <a:pt x="20006401" y="0"/>
                  </a:lnTo>
                  <a:lnTo>
                    <a:pt x="20006401" y="807200"/>
                  </a:lnTo>
                  <a:lnTo>
                    <a:pt x="0" y="807200"/>
                  </a:lnTo>
                  <a:close/>
                </a:path>
              </a:pathLst>
            </a:custGeom>
            <a:solidFill>
              <a:srgbClr val="000000">
                <a:alpha val="0"/>
              </a:srgbClr>
            </a:solidFill>
          </p:spPr>
        </p:sp>
        <p:sp>
          <p:nvSpPr>
            <p:cNvPr id="13" name="TextBox 13"/>
            <p:cNvSpPr txBox="1"/>
            <p:nvPr/>
          </p:nvSpPr>
          <p:spPr>
            <a:xfrm>
              <a:off x="0" y="19050"/>
              <a:ext cx="20006400" cy="788150"/>
            </a:xfrm>
            <a:prstGeom prst="rect">
              <a:avLst/>
            </a:prstGeom>
          </p:spPr>
          <p:txBody>
            <a:bodyPr lIns="0" tIns="0" rIns="0" bIns="0" rtlCol="0" anchor="ctr"/>
            <a:lstStyle/>
            <a:p>
              <a:pPr algn="l">
                <a:lnSpc>
                  <a:spcPts val="3304"/>
                </a:lnSpc>
              </a:pPr>
              <a:r>
                <a:rPr lang="en-US" sz="3060">
                  <a:solidFill>
                    <a:srgbClr val="FF9900"/>
                  </a:solidFill>
                  <a:latin typeface="Roboto"/>
                  <a:ea typeface="Roboto"/>
                  <a:cs typeface="Roboto"/>
                  <a:sym typeface="Roboto"/>
                </a:rPr>
                <a:t>Các nhiệm vụ cần thực hiện</a:t>
              </a:r>
            </a:p>
          </p:txBody>
        </p:sp>
      </p:grpSp>
      <p:sp>
        <p:nvSpPr>
          <p:cNvPr id="14" name="TextBox 14"/>
          <p:cNvSpPr txBox="1"/>
          <p:nvPr/>
        </p:nvSpPr>
        <p:spPr>
          <a:xfrm>
            <a:off x="1257299" y="1275862"/>
            <a:ext cx="9204109" cy="3362325"/>
          </a:xfrm>
          <a:prstGeom prst="rect">
            <a:avLst/>
          </a:prstGeom>
        </p:spPr>
        <p:txBody>
          <a:bodyPr lIns="0" tIns="0" rIns="0" bIns="0" rtlCol="0" anchor="t">
            <a:spAutoFit/>
          </a:bodyPr>
          <a:lstStyle/>
          <a:p>
            <a:pPr algn="l">
              <a:lnSpc>
                <a:spcPts val="3827"/>
              </a:lnSpc>
            </a:pPr>
            <a:endParaRPr/>
          </a:p>
          <a:p>
            <a:pPr marL="626109" lvl="1" indent="-313054" algn="l">
              <a:lnSpc>
                <a:spcPts val="3827"/>
              </a:lnSpc>
              <a:buFont typeface="Arial"/>
              <a:buChar char="•"/>
            </a:pPr>
            <a:r>
              <a:rPr lang="en-US" sz="2899">
                <a:solidFill>
                  <a:srgbClr val="000000"/>
                </a:solidFill>
                <a:latin typeface="Times New Roman"/>
                <a:ea typeface="Times New Roman"/>
                <a:cs typeface="Times New Roman"/>
                <a:sym typeface="Times New Roman"/>
              </a:rPr>
              <a:t>Lập Test Plan</a:t>
            </a:r>
          </a:p>
          <a:p>
            <a:pPr marL="626109" lvl="1" indent="-313054" algn="l">
              <a:lnSpc>
                <a:spcPts val="3827"/>
              </a:lnSpc>
              <a:buFont typeface="Arial"/>
              <a:buChar char="•"/>
            </a:pPr>
            <a:r>
              <a:rPr lang="en-US" sz="2899">
                <a:solidFill>
                  <a:srgbClr val="000000"/>
                </a:solidFill>
                <a:latin typeface="Times New Roman"/>
                <a:ea typeface="Times New Roman"/>
                <a:cs typeface="Times New Roman"/>
                <a:sym typeface="Times New Roman"/>
              </a:rPr>
              <a:t> Viết Test Case</a:t>
            </a:r>
          </a:p>
          <a:p>
            <a:pPr marL="626109" lvl="1" indent="-313054" algn="l">
              <a:lnSpc>
                <a:spcPts val="3827"/>
              </a:lnSpc>
              <a:buFont typeface="Arial"/>
              <a:buChar char="•"/>
            </a:pPr>
            <a:r>
              <a:rPr lang="en-US" sz="2899">
                <a:solidFill>
                  <a:srgbClr val="000000"/>
                </a:solidFill>
                <a:latin typeface="Times New Roman"/>
                <a:ea typeface="Times New Roman"/>
                <a:cs typeface="Times New Roman"/>
                <a:sym typeface="Times New Roman"/>
              </a:rPr>
              <a:t> Thực thi kiểm thử</a:t>
            </a:r>
          </a:p>
          <a:p>
            <a:pPr marL="626109" lvl="1" indent="-313054" algn="l">
              <a:lnSpc>
                <a:spcPts val="3827"/>
              </a:lnSpc>
              <a:buFont typeface="Arial"/>
              <a:buChar char="•"/>
            </a:pPr>
            <a:r>
              <a:rPr lang="en-US" sz="2899">
                <a:solidFill>
                  <a:srgbClr val="000000"/>
                </a:solidFill>
                <a:latin typeface="Times New Roman"/>
                <a:ea typeface="Times New Roman"/>
                <a:cs typeface="Times New Roman"/>
                <a:sym typeface="Times New Roman"/>
              </a:rPr>
              <a:t> Lập Test Report</a:t>
            </a:r>
          </a:p>
          <a:p>
            <a:pPr marL="626109" lvl="1" indent="-313054" algn="l">
              <a:lnSpc>
                <a:spcPts val="3827"/>
              </a:lnSpc>
              <a:buFont typeface="Arial"/>
              <a:buChar char="•"/>
            </a:pPr>
            <a:r>
              <a:rPr lang="en-US" sz="2899">
                <a:solidFill>
                  <a:srgbClr val="000000"/>
                </a:solidFill>
                <a:latin typeface="Times New Roman"/>
                <a:ea typeface="Times New Roman"/>
                <a:cs typeface="Times New Roman"/>
                <a:sym typeface="Times New Roman"/>
              </a:rPr>
              <a:t>Báo cáo thực thi kiểm thử và báo cáo lỗi</a:t>
            </a:r>
          </a:p>
          <a:p>
            <a:pPr algn="l">
              <a:lnSpc>
                <a:spcPts val="3131"/>
              </a:lnSpc>
            </a:pPr>
            <a:endParaRPr lang="en-US" sz="2899">
              <a:solidFill>
                <a:srgbClr val="000000"/>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sp>
      <p:grpSp>
        <p:nvGrpSpPr>
          <p:cNvPr id="3" name="Group 3"/>
          <p:cNvGrpSpPr>
            <a:grpSpLocks noChangeAspect="1"/>
          </p:cNvGrpSpPr>
          <p:nvPr/>
        </p:nvGrpSpPr>
        <p:grpSpPr>
          <a:xfrm>
            <a:off x="155352" y="-409644"/>
            <a:ext cx="2203894" cy="2203894"/>
            <a:chOff x="0" y="0"/>
            <a:chExt cx="2938525" cy="2938525"/>
          </a:xfrm>
        </p:grpSpPr>
        <p:sp>
          <p:nvSpPr>
            <p:cNvPr id="4" name="Freeform 4"/>
            <p:cNvSpPr/>
            <p:nvPr/>
          </p:nvSpPr>
          <p:spPr>
            <a:xfrm>
              <a:off x="0" y="0"/>
              <a:ext cx="2938526" cy="2938526"/>
            </a:xfrm>
            <a:custGeom>
              <a:avLst/>
              <a:gdLst/>
              <a:ahLst/>
              <a:cxnLst/>
              <a:rect l="l" t="t" r="r" b="b"/>
              <a:pathLst>
                <a:path w="2938526" h="2938526">
                  <a:moveTo>
                    <a:pt x="0" y="0"/>
                  </a:moveTo>
                  <a:lnTo>
                    <a:pt x="2938526" y="0"/>
                  </a:lnTo>
                  <a:lnTo>
                    <a:pt x="2938526" y="2938526"/>
                  </a:lnTo>
                  <a:lnTo>
                    <a:pt x="0" y="2938526"/>
                  </a:lnTo>
                  <a:lnTo>
                    <a:pt x="0" y="0"/>
                  </a:lnTo>
                  <a:close/>
                </a:path>
              </a:pathLst>
            </a:custGeom>
            <a:blipFill>
              <a:blip r:embed="rId4"/>
              <a:stretch>
                <a:fillRect/>
              </a:stretch>
            </a:blipFill>
          </p:spPr>
        </p:sp>
      </p:grpSp>
      <p:grpSp>
        <p:nvGrpSpPr>
          <p:cNvPr id="5" name="Group 5"/>
          <p:cNvGrpSpPr>
            <a:grpSpLocks noChangeAspect="1"/>
          </p:cNvGrpSpPr>
          <p:nvPr/>
        </p:nvGrpSpPr>
        <p:grpSpPr>
          <a:xfrm>
            <a:off x="15683212" y="140336"/>
            <a:ext cx="2486026" cy="1085850"/>
            <a:chOff x="0" y="0"/>
            <a:chExt cx="3314701" cy="1447800"/>
          </a:xfrm>
        </p:grpSpPr>
        <p:sp>
          <p:nvSpPr>
            <p:cNvPr id="6" name="Freeform 6"/>
            <p:cNvSpPr/>
            <p:nvPr/>
          </p:nvSpPr>
          <p:spPr>
            <a:xfrm>
              <a:off x="0" y="0"/>
              <a:ext cx="3314700" cy="1447800"/>
            </a:xfrm>
            <a:custGeom>
              <a:avLst/>
              <a:gdLst/>
              <a:ahLst/>
              <a:cxnLst/>
              <a:rect l="l" t="t" r="r" b="b"/>
              <a:pathLst>
                <a:path w="3314700" h="1447800">
                  <a:moveTo>
                    <a:pt x="0" y="0"/>
                  </a:moveTo>
                  <a:lnTo>
                    <a:pt x="3314700" y="0"/>
                  </a:lnTo>
                  <a:lnTo>
                    <a:pt x="3314700" y="1447800"/>
                  </a:lnTo>
                  <a:lnTo>
                    <a:pt x="0" y="1447800"/>
                  </a:lnTo>
                  <a:lnTo>
                    <a:pt x="0" y="0"/>
                  </a:lnTo>
                  <a:close/>
                </a:path>
              </a:pathLst>
            </a:custGeom>
            <a:blipFill>
              <a:blip r:embed="rId5"/>
              <a:stretch>
                <a:fillRect/>
              </a:stretch>
            </a:blipFill>
          </p:spPr>
        </p:sp>
      </p:grpSp>
      <p:grpSp>
        <p:nvGrpSpPr>
          <p:cNvPr id="7" name="Group 7"/>
          <p:cNvGrpSpPr/>
          <p:nvPr/>
        </p:nvGrpSpPr>
        <p:grpSpPr>
          <a:xfrm>
            <a:off x="4739711" y="1794250"/>
            <a:ext cx="9139390" cy="1662808"/>
            <a:chOff x="0" y="0"/>
            <a:chExt cx="26391779" cy="4801683"/>
          </a:xfrm>
        </p:grpSpPr>
        <p:sp>
          <p:nvSpPr>
            <p:cNvPr id="8" name="Freeform 8"/>
            <p:cNvSpPr/>
            <p:nvPr/>
          </p:nvSpPr>
          <p:spPr>
            <a:xfrm>
              <a:off x="0" y="0"/>
              <a:ext cx="26391763" cy="4801743"/>
            </a:xfrm>
            <a:custGeom>
              <a:avLst/>
              <a:gdLst/>
              <a:ahLst/>
              <a:cxnLst/>
              <a:rect l="l" t="t" r="r" b="b"/>
              <a:pathLst>
                <a:path w="26391763" h="4801743">
                  <a:moveTo>
                    <a:pt x="0" y="0"/>
                  </a:moveTo>
                  <a:lnTo>
                    <a:pt x="26391763" y="0"/>
                  </a:lnTo>
                  <a:lnTo>
                    <a:pt x="26391763" y="4801743"/>
                  </a:lnTo>
                  <a:lnTo>
                    <a:pt x="0" y="4801743"/>
                  </a:lnTo>
                  <a:close/>
                </a:path>
              </a:pathLst>
            </a:custGeom>
            <a:solidFill>
              <a:srgbClr val="F5A700"/>
            </a:solidFill>
          </p:spPr>
        </p:sp>
        <p:sp>
          <p:nvSpPr>
            <p:cNvPr id="9" name="TextBox 9"/>
            <p:cNvSpPr txBox="1"/>
            <p:nvPr/>
          </p:nvSpPr>
          <p:spPr>
            <a:xfrm>
              <a:off x="0" y="-85725"/>
              <a:ext cx="26391779" cy="4887408"/>
            </a:xfrm>
            <a:prstGeom prst="rect">
              <a:avLst/>
            </a:prstGeom>
          </p:spPr>
          <p:txBody>
            <a:bodyPr lIns="23456" tIns="23456" rIns="23456" bIns="23456" rtlCol="0" anchor="ctr"/>
            <a:lstStyle/>
            <a:p>
              <a:pPr algn="ctr">
                <a:lnSpc>
                  <a:spcPts val="9751"/>
                </a:lnSpc>
              </a:pPr>
              <a:r>
                <a:rPr lang="en-US" sz="7387">
                  <a:solidFill>
                    <a:srgbClr val="FFFFFF"/>
                  </a:solidFill>
                  <a:latin typeface="Roboto"/>
                  <a:ea typeface="Roboto"/>
                  <a:cs typeface="Roboto"/>
                  <a:sym typeface="Roboto"/>
                </a:rPr>
                <a:t>TEST PLAN</a:t>
              </a:r>
            </a:p>
          </p:txBody>
        </p:sp>
      </p:grpSp>
      <p:grpSp>
        <p:nvGrpSpPr>
          <p:cNvPr id="10" name="Group 10"/>
          <p:cNvGrpSpPr>
            <a:grpSpLocks noChangeAspect="1"/>
          </p:cNvGrpSpPr>
          <p:nvPr/>
        </p:nvGrpSpPr>
        <p:grpSpPr>
          <a:xfrm>
            <a:off x="339507" y="3750693"/>
            <a:ext cx="8086726" cy="4231492"/>
            <a:chOff x="0" y="0"/>
            <a:chExt cx="10782301" cy="5641989"/>
          </a:xfrm>
        </p:grpSpPr>
        <p:sp>
          <p:nvSpPr>
            <p:cNvPr id="11" name="Freeform 11" descr="Test Plan là gì? Những nội dung chính trong một test plan | Anh Tester"/>
            <p:cNvSpPr/>
            <p:nvPr/>
          </p:nvSpPr>
          <p:spPr>
            <a:xfrm>
              <a:off x="0" y="0"/>
              <a:ext cx="10782300" cy="5641975"/>
            </a:xfrm>
            <a:custGeom>
              <a:avLst/>
              <a:gdLst/>
              <a:ahLst/>
              <a:cxnLst/>
              <a:rect l="l" t="t" r="r" b="b"/>
              <a:pathLst>
                <a:path w="10782300" h="5641975">
                  <a:moveTo>
                    <a:pt x="0" y="0"/>
                  </a:moveTo>
                  <a:lnTo>
                    <a:pt x="10782300" y="0"/>
                  </a:lnTo>
                  <a:lnTo>
                    <a:pt x="10782300" y="5641975"/>
                  </a:lnTo>
                  <a:lnTo>
                    <a:pt x="0" y="5641975"/>
                  </a:lnTo>
                  <a:lnTo>
                    <a:pt x="0" y="0"/>
                  </a:lnTo>
                  <a:close/>
                </a:path>
              </a:pathLst>
            </a:custGeom>
            <a:blipFill>
              <a:blip r:embed="rId6"/>
              <a:stretch>
                <a:fillRect b="-13"/>
              </a:stretch>
            </a:blipFill>
          </p:spPr>
        </p:sp>
      </p:grpSp>
      <p:sp>
        <p:nvSpPr>
          <p:cNvPr id="12" name="Freeform 12"/>
          <p:cNvSpPr/>
          <p:nvPr/>
        </p:nvSpPr>
        <p:spPr>
          <a:xfrm>
            <a:off x="8073227" y="3614890"/>
            <a:ext cx="9345282" cy="4894592"/>
          </a:xfrm>
          <a:custGeom>
            <a:avLst/>
            <a:gdLst/>
            <a:ahLst/>
            <a:cxnLst/>
            <a:rect l="l" t="t" r="r" b="b"/>
            <a:pathLst>
              <a:path w="9345282" h="4894592">
                <a:moveTo>
                  <a:pt x="0" y="0"/>
                </a:moveTo>
                <a:lnTo>
                  <a:pt x="9345283" y="0"/>
                </a:lnTo>
                <a:lnTo>
                  <a:pt x="9345283" y="4894592"/>
                </a:lnTo>
                <a:lnTo>
                  <a:pt x="0" y="4894592"/>
                </a:lnTo>
                <a:lnTo>
                  <a:pt x="0" y="0"/>
                </a:lnTo>
                <a:close/>
              </a:path>
            </a:pathLst>
          </a:custGeom>
          <a:blipFill>
            <a:blip r:embed="rId7"/>
            <a:stretch>
              <a:fillRect/>
            </a:stretch>
          </a:blipFill>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sp>
      <p:grpSp>
        <p:nvGrpSpPr>
          <p:cNvPr id="3" name="Group 3"/>
          <p:cNvGrpSpPr>
            <a:grpSpLocks noChangeAspect="1"/>
          </p:cNvGrpSpPr>
          <p:nvPr/>
        </p:nvGrpSpPr>
        <p:grpSpPr>
          <a:xfrm>
            <a:off x="155352" y="-409644"/>
            <a:ext cx="2203894" cy="2203894"/>
            <a:chOff x="0" y="0"/>
            <a:chExt cx="2938525" cy="2938525"/>
          </a:xfrm>
        </p:grpSpPr>
        <p:sp>
          <p:nvSpPr>
            <p:cNvPr id="4" name="Freeform 4"/>
            <p:cNvSpPr/>
            <p:nvPr/>
          </p:nvSpPr>
          <p:spPr>
            <a:xfrm>
              <a:off x="0" y="0"/>
              <a:ext cx="2938526" cy="2938526"/>
            </a:xfrm>
            <a:custGeom>
              <a:avLst/>
              <a:gdLst/>
              <a:ahLst/>
              <a:cxnLst/>
              <a:rect l="l" t="t" r="r" b="b"/>
              <a:pathLst>
                <a:path w="2938526" h="2938526">
                  <a:moveTo>
                    <a:pt x="0" y="0"/>
                  </a:moveTo>
                  <a:lnTo>
                    <a:pt x="2938526" y="0"/>
                  </a:lnTo>
                  <a:lnTo>
                    <a:pt x="2938526" y="2938526"/>
                  </a:lnTo>
                  <a:lnTo>
                    <a:pt x="0" y="2938526"/>
                  </a:lnTo>
                  <a:lnTo>
                    <a:pt x="0" y="0"/>
                  </a:lnTo>
                  <a:close/>
                </a:path>
              </a:pathLst>
            </a:custGeom>
            <a:blipFill>
              <a:blip r:embed="rId4"/>
              <a:stretch>
                <a:fillRect/>
              </a:stretch>
            </a:blipFill>
          </p:spPr>
        </p:sp>
      </p:grpSp>
      <p:grpSp>
        <p:nvGrpSpPr>
          <p:cNvPr id="5" name="Group 5"/>
          <p:cNvGrpSpPr>
            <a:grpSpLocks noChangeAspect="1"/>
          </p:cNvGrpSpPr>
          <p:nvPr/>
        </p:nvGrpSpPr>
        <p:grpSpPr>
          <a:xfrm>
            <a:off x="15683212" y="140336"/>
            <a:ext cx="2486026" cy="1085850"/>
            <a:chOff x="0" y="0"/>
            <a:chExt cx="3314701" cy="1447800"/>
          </a:xfrm>
        </p:grpSpPr>
        <p:sp>
          <p:nvSpPr>
            <p:cNvPr id="6" name="Freeform 6"/>
            <p:cNvSpPr/>
            <p:nvPr/>
          </p:nvSpPr>
          <p:spPr>
            <a:xfrm>
              <a:off x="0" y="0"/>
              <a:ext cx="3314700" cy="1447800"/>
            </a:xfrm>
            <a:custGeom>
              <a:avLst/>
              <a:gdLst/>
              <a:ahLst/>
              <a:cxnLst/>
              <a:rect l="l" t="t" r="r" b="b"/>
              <a:pathLst>
                <a:path w="3314700" h="1447800">
                  <a:moveTo>
                    <a:pt x="0" y="0"/>
                  </a:moveTo>
                  <a:lnTo>
                    <a:pt x="3314700" y="0"/>
                  </a:lnTo>
                  <a:lnTo>
                    <a:pt x="3314700" y="1447800"/>
                  </a:lnTo>
                  <a:lnTo>
                    <a:pt x="0" y="1447800"/>
                  </a:lnTo>
                  <a:lnTo>
                    <a:pt x="0" y="0"/>
                  </a:lnTo>
                  <a:close/>
                </a:path>
              </a:pathLst>
            </a:custGeom>
            <a:blipFill>
              <a:blip r:embed="rId5"/>
              <a:stretch>
                <a:fillRect/>
              </a:stretch>
            </a:blipFill>
          </p:spPr>
        </p:sp>
      </p:grpSp>
      <p:grpSp>
        <p:nvGrpSpPr>
          <p:cNvPr id="7" name="Group 7"/>
          <p:cNvGrpSpPr/>
          <p:nvPr/>
        </p:nvGrpSpPr>
        <p:grpSpPr>
          <a:xfrm>
            <a:off x="2670196" y="143026"/>
            <a:ext cx="62400" cy="1056000"/>
            <a:chOff x="0" y="0"/>
            <a:chExt cx="83200" cy="1408000"/>
          </a:xfrm>
        </p:grpSpPr>
        <p:sp>
          <p:nvSpPr>
            <p:cNvPr id="8" name="Freeform 8"/>
            <p:cNvSpPr/>
            <p:nvPr/>
          </p:nvSpPr>
          <p:spPr>
            <a:xfrm>
              <a:off x="0" y="0"/>
              <a:ext cx="83185" cy="1408049"/>
            </a:xfrm>
            <a:custGeom>
              <a:avLst/>
              <a:gdLst/>
              <a:ahLst/>
              <a:cxnLst/>
              <a:rect l="l" t="t" r="r" b="b"/>
              <a:pathLst>
                <a:path w="83185" h="1408049">
                  <a:moveTo>
                    <a:pt x="0" y="0"/>
                  </a:moveTo>
                  <a:lnTo>
                    <a:pt x="83185" y="0"/>
                  </a:lnTo>
                  <a:lnTo>
                    <a:pt x="83185" y="1408049"/>
                  </a:lnTo>
                  <a:lnTo>
                    <a:pt x="0" y="1408049"/>
                  </a:lnTo>
                  <a:close/>
                </a:path>
              </a:pathLst>
            </a:custGeom>
            <a:solidFill>
              <a:srgbClr val="F5A700"/>
            </a:solidFill>
          </p:spPr>
        </p:sp>
      </p:grpSp>
      <p:grpSp>
        <p:nvGrpSpPr>
          <p:cNvPr id="9" name="Group 9"/>
          <p:cNvGrpSpPr/>
          <p:nvPr/>
        </p:nvGrpSpPr>
        <p:grpSpPr>
          <a:xfrm>
            <a:off x="2882476" y="878062"/>
            <a:ext cx="625800" cy="321600"/>
            <a:chOff x="0" y="0"/>
            <a:chExt cx="834400" cy="428800"/>
          </a:xfrm>
        </p:grpSpPr>
        <p:sp>
          <p:nvSpPr>
            <p:cNvPr id="10" name="Freeform 10"/>
            <p:cNvSpPr/>
            <p:nvPr/>
          </p:nvSpPr>
          <p:spPr>
            <a:xfrm>
              <a:off x="0" y="0"/>
              <a:ext cx="834390" cy="428752"/>
            </a:xfrm>
            <a:custGeom>
              <a:avLst/>
              <a:gdLst/>
              <a:ahLst/>
              <a:cxnLst/>
              <a:rect l="l" t="t" r="r" b="b"/>
              <a:pathLst>
                <a:path w="834390" h="428752">
                  <a:moveTo>
                    <a:pt x="0" y="0"/>
                  </a:moveTo>
                  <a:lnTo>
                    <a:pt x="575310" y="0"/>
                  </a:lnTo>
                  <a:lnTo>
                    <a:pt x="834390" y="214376"/>
                  </a:lnTo>
                  <a:lnTo>
                    <a:pt x="575310" y="428752"/>
                  </a:lnTo>
                  <a:lnTo>
                    <a:pt x="0" y="428752"/>
                  </a:lnTo>
                  <a:close/>
                </a:path>
              </a:pathLst>
            </a:custGeom>
            <a:solidFill>
              <a:srgbClr val="0033CC"/>
            </a:solidFill>
          </p:spPr>
        </p:sp>
      </p:grpSp>
      <p:sp>
        <p:nvSpPr>
          <p:cNvPr id="11" name="TextBox 11"/>
          <p:cNvSpPr txBox="1"/>
          <p:nvPr/>
        </p:nvSpPr>
        <p:spPr>
          <a:xfrm>
            <a:off x="342388" y="1746625"/>
            <a:ext cx="17826850" cy="2338578"/>
          </a:xfrm>
          <a:prstGeom prst="rect">
            <a:avLst/>
          </a:prstGeom>
        </p:spPr>
        <p:txBody>
          <a:bodyPr lIns="0" tIns="0" rIns="0" bIns="0" rtlCol="0" anchor="t">
            <a:spAutoFit/>
          </a:bodyPr>
          <a:lstStyle/>
          <a:p>
            <a:pPr algn="l">
              <a:lnSpc>
                <a:spcPts val="3695"/>
              </a:lnSpc>
            </a:pPr>
            <a:r>
              <a:rPr lang="en-US" sz="2799">
                <a:solidFill>
                  <a:srgbClr val="000000"/>
                </a:solidFill>
                <a:latin typeface="Times New Roman"/>
                <a:ea typeface="Times New Roman"/>
                <a:cs typeface="Times New Roman"/>
                <a:sym typeface="Times New Roman"/>
              </a:rPr>
              <a:t>Đề tài tập trung vào việc </a:t>
            </a:r>
            <a:r>
              <a:rPr lang="en-US" sz="2799" b="1">
                <a:solidFill>
                  <a:srgbClr val="000000"/>
                </a:solidFill>
                <a:latin typeface="Times New Roman Bold"/>
                <a:ea typeface="Times New Roman Bold"/>
                <a:cs typeface="Times New Roman Bold"/>
                <a:sym typeface="Times New Roman Bold"/>
              </a:rPr>
              <a:t>kiểm thử chức năng và giao diện người dùng</a:t>
            </a:r>
            <a:r>
              <a:rPr lang="en-US" sz="2799">
                <a:solidFill>
                  <a:srgbClr val="000000"/>
                </a:solidFill>
                <a:latin typeface="Times New Roman"/>
                <a:ea typeface="Times New Roman"/>
                <a:cs typeface="Times New Roman"/>
                <a:sym typeface="Times New Roman"/>
              </a:rPr>
              <a:t> của website </a:t>
            </a:r>
            <a:r>
              <a:rPr lang="en-US" sz="2799" b="1">
                <a:solidFill>
                  <a:srgbClr val="000000"/>
                </a:solidFill>
                <a:latin typeface="Times New Roman Bold"/>
                <a:ea typeface="Times New Roman Bold"/>
                <a:cs typeface="Times New Roman Bold"/>
                <a:sym typeface="Times New Roman Bold"/>
              </a:rPr>
              <a:t>Sweet Sip</a:t>
            </a:r>
            <a:r>
              <a:rPr lang="en-US" sz="2799">
                <a:solidFill>
                  <a:srgbClr val="000000"/>
                </a:solidFill>
                <a:latin typeface="Times New Roman"/>
                <a:ea typeface="Times New Roman"/>
                <a:cs typeface="Times New Roman"/>
                <a:sym typeface="Times New Roman"/>
              </a:rPr>
              <a:t> – một nền tảng thương mại điện tử chuyên bán các loại bánh ngọt và đồ uống.</a:t>
            </a:r>
          </a:p>
          <a:p>
            <a:pPr algn="l">
              <a:lnSpc>
                <a:spcPts val="3695"/>
              </a:lnSpc>
            </a:pPr>
            <a:r>
              <a:rPr lang="en-US" sz="2799">
                <a:solidFill>
                  <a:srgbClr val="000000"/>
                </a:solidFill>
                <a:latin typeface="Times New Roman"/>
                <a:ea typeface="Times New Roman"/>
                <a:cs typeface="Times New Roman"/>
                <a:sym typeface="Times New Roman"/>
              </a:rPr>
              <a:t> Phạm vi kiểm thử bao gồm:</a:t>
            </a:r>
          </a:p>
          <a:p>
            <a:pPr marL="675640" lvl="1" indent="-337820" algn="l">
              <a:lnSpc>
                <a:spcPts val="3695"/>
              </a:lnSpc>
              <a:buFont typeface="Arial"/>
              <a:buChar char="•"/>
            </a:pPr>
            <a:r>
              <a:rPr lang="en-US" sz="2799" b="1">
                <a:solidFill>
                  <a:srgbClr val="000000"/>
                </a:solidFill>
                <a:latin typeface="Times New Roman Bold"/>
                <a:ea typeface="Times New Roman Bold"/>
                <a:cs typeface="Times New Roman Bold"/>
                <a:sym typeface="Times New Roman Bold"/>
              </a:rPr>
              <a:t>Chức năng người dùng:</a:t>
            </a:r>
            <a:r>
              <a:rPr lang="en-US" sz="2799">
                <a:solidFill>
                  <a:srgbClr val="000000"/>
                </a:solidFill>
                <a:latin typeface="Times New Roman"/>
                <a:ea typeface="Times New Roman"/>
                <a:cs typeface="Times New Roman"/>
                <a:sym typeface="Times New Roman"/>
              </a:rPr>
              <a:t> đăng ký, đăng nhập, xem sản phẩm, thêm vào giỏ hàng, đặt hàng và thanh toán.</a:t>
            </a:r>
          </a:p>
          <a:p>
            <a:pPr marL="675640" lvl="1" indent="-337820" algn="l">
              <a:lnSpc>
                <a:spcPts val="3695"/>
              </a:lnSpc>
              <a:buFont typeface="Arial"/>
              <a:buChar char="•"/>
            </a:pPr>
            <a:r>
              <a:rPr lang="en-US" sz="2799" b="1">
                <a:solidFill>
                  <a:srgbClr val="000000"/>
                </a:solidFill>
                <a:latin typeface="Times New Roman Bold"/>
                <a:ea typeface="Times New Roman Bold"/>
                <a:cs typeface="Times New Roman Bold"/>
                <a:sym typeface="Times New Roman Bold"/>
              </a:rPr>
              <a:t>Chức năng quản trị:</a:t>
            </a:r>
            <a:r>
              <a:rPr lang="en-US" sz="2799">
                <a:solidFill>
                  <a:srgbClr val="000000"/>
                </a:solidFill>
                <a:latin typeface="Times New Roman"/>
                <a:ea typeface="Times New Roman"/>
                <a:cs typeface="Times New Roman"/>
                <a:sym typeface="Times New Roman"/>
              </a:rPr>
              <a:t> quản lý sản phẩm, quản lý đơn hàng, quản lý tài khoản khách hàng, phân tích doanh thu.</a:t>
            </a:r>
          </a:p>
        </p:txBody>
      </p:sp>
      <p:grpSp>
        <p:nvGrpSpPr>
          <p:cNvPr id="12" name="Group 12"/>
          <p:cNvGrpSpPr/>
          <p:nvPr/>
        </p:nvGrpSpPr>
        <p:grpSpPr>
          <a:xfrm>
            <a:off x="3660676" y="736162"/>
            <a:ext cx="12291000" cy="605400"/>
            <a:chOff x="0" y="0"/>
            <a:chExt cx="16388000" cy="807200"/>
          </a:xfrm>
        </p:grpSpPr>
        <p:sp>
          <p:nvSpPr>
            <p:cNvPr id="13" name="Freeform 13"/>
            <p:cNvSpPr/>
            <p:nvPr/>
          </p:nvSpPr>
          <p:spPr>
            <a:xfrm>
              <a:off x="0" y="0"/>
              <a:ext cx="16388000" cy="807200"/>
            </a:xfrm>
            <a:custGeom>
              <a:avLst/>
              <a:gdLst/>
              <a:ahLst/>
              <a:cxnLst/>
              <a:rect l="l" t="t" r="r" b="b"/>
              <a:pathLst>
                <a:path w="16388000" h="807200">
                  <a:moveTo>
                    <a:pt x="0" y="0"/>
                  </a:moveTo>
                  <a:lnTo>
                    <a:pt x="16388000" y="0"/>
                  </a:lnTo>
                  <a:lnTo>
                    <a:pt x="16388000" y="807200"/>
                  </a:lnTo>
                  <a:lnTo>
                    <a:pt x="0" y="807200"/>
                  </a:lnTo>
                  <a:close/>
                </a:path>
              </a:pathLst>
            </a:custGeom>
            <a:solidFill>
              <a:srgbClr val="000000">
                <a:alpha val="0"/>
              </a:srgbClr>
            </a:solidFill>
          </p:spPr>
        </p:sp>
        <p:sp>
          <p:nvSpPr>
            <p:cNvPr id="14" name="TextBox 14"/>
            <p:cNvSpPr txBox="1"/>
            <p:nvPr/>
          </p:nvSpPr>
          <p:spPr>
            <a:xfrm>
              <a:off x="0" y="28575"/>
              <a:ext cx="16388000" cy="778625"/>
            </a:xfrm>
            <a:prstGeom prst="rect">
              <a:avLst/>
            </a:prstGeom>
          </p:spPr>
          <p:txBody>
            <a:bodyPr lIns="0" tIns="0" rIns="0" bIns="0" rtlCol="0" anchor="ctr"/>
            <a:lstStyle/>
            <a:p>
              <a:pPr algn="l">
                <a:lnSpc>
                  <a:spcPts val="3672"/>
                </a:lnSpc>
              </a:pPr>
              <a:r>
                <a:rPr lang="en-US" sz="3400">
                  <a:solidFill>
                    <a:srgbClr val="FF9900"/>
                  </a:solidFill>
                  <a:latin typeface="Roboto"/>
                  <a:ea typeface="Roboto"/>
                  <a:cs typeface="Roboto"/>
                  <a:sym typeface="Roboto"/>
                </a:rPr>
                <a:t>Phạm vi và mục tiêu</a:t>
              </a: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sp>
      <p:grpSp>
        <p:nvGrpSpPr>
          <p:cNvPr id="3" name="Group 3"/>
          <p:cNvGrpSpPr>
            <a:grpSpLocks noChangeAspect="1"/>
          </p:cNvGrpSpPr>
          <p:nvPr/>
        </p:nvGrpSpPr>
        <p:grpSpPr>
          <a:xfrm>
            <a:off x="155352" y="-409644"/>
            <a:ext cx="2203894" cy="2203894"/>
            <a:chOff x="0" y="0"/>
            <a:chExt cx="2938525" cy="2938525"/>
          </a:xfrm>
        </p:grpSpPr>
        <p:sp>
          <p:nvSpPr>
            <p:cNvPr id="4" name="Freeform 4"/>
            <p:cNvSpPr/>
            <p:nvPr/>
          </p:nvSpPr>
          <p:spPr>
            <a:xfrm>
              <a:off x="0" y="0"/>
              <a:ext cx="2938526" cy="2938526"/>
            </a:xfrm>
            <a:custGeom>
              <a:avLst/>
              <a:gdLst/>
              <a:ahLst/>
              <a:cxnLst/>
              <a:rect l="l" t="t" r="r" b="b"/>
              <a:pathLst>
                <a:path w="2938526" h="2938526">
                  <a:moveTo>
                    <a:pt x="0" y="0"/>
                  </a:moveTo>
                  <a:lnTo>
                    <a:pt x="2938526" y="0"/>
                  </a:lnTo>
                  <a:lnTo>
                    <a:pt x="2938526" y="2938526"/>
                  </a:lnTo>
                  <a:lnTo>
                    <a:pt x="0" y="2938526"/>
                  </a:lnTo>
                  <a:lnTo>
                    <a:pt x="0" y="0"/>
                  </a:lnTo>
                  <a:close/>
                </a:path>
              </a:pathLst>
            </a:custGeom>
            <a:blipFill>
              <a:blip r:embed="rId4"/>
              <a:stretch>
                <a:fillRect/>
              </a:stretch>
            </a:blipFill>
          </p:spPr>
        </p:sp>
      </p:grpSp>
      <p:grpSp>
        <p:nvGrpSpPr>
          <p:cNvPr id="5" name="Group 5"/>
          <p:cNvGrpSpPr>
            <a:grpSpLocks noChangeAspect="1"/>
          </p:cNvGrpSpPr>
          <p:nvPr/>
        </p:nvGrpSpPr>
        <p:grpSpPr>
          <a:xfrm>
            <a:off x="15683212" y="140336"/>
            <a:ext cx="2486026" cy="1085850"/>
            <a:chOff x="0" y="0"/>
            <a:chExt cx="3314701" cy="1447800"/>
          </a:xfrm>
        </p:grpSpPr>
        <p:sp>
          <p:nvSpPr>
            <p:cNvPr id="6" name="Freeform 6"/>
            <p:cNvSpPr/>
            <p:nvPr/>
          </p:nvSpPr>
          <p:spPr>
            <a:xfrm>
              <a:off x="0" y="0"/>
              <a:ext cx="3314700" cy="1447800"/>
            </a:xfrm>
            <a:custGeom>
              <a:avLst/>
              <a:gdLst/>
              <a:ahLst/>
              <a:cxnLst/>
              <a:rect l="l" t="t" r="r" b="b"/>
              <a:pathLst>
                <a:path w="3314700" h="1447800">
                  <a:moveTo>
                    <a:pt x="0" y="0"/>
                  </a:moveTo>
                  <a:lnTo>
                    <a:pt x="3314700" y="0"/>
                  </a:lnTo>
                  <a:lnTo>
                    <a:pt x="3314700" y="1447800"/>
                  </a:lnTo>
                  <a:lnTo>
                    <a:pt x="0" y="1447800"/>
                  </a:lnTo>
                  <a:lnTo>
                    <a:pt x="0" y="0"/>
                  </a:lnTo>
                  <a:close/>
                </a:path>
              </a:pathLst>
            </a:custGeom>
            <a:blipFill>
              <a:blip r:embed="rId5"/>
              <a:stretch>
                <a:fillRect/>
              </a:stretch>
            </a:blipFill>
          </p:spPr>
        </p:sp>
      </p:grpSp>
      <p:grpSp>
        <p:nvGrpSpPr>
          <p:cNvPr id="7" name="Group 7"/>
          <p:cNvGrpSpPr/>
          <p:nvPr/>
        </p:nvGrpSpPr>
        <p:grpSpPr>
          <a:xfrm>
            <a:off x="2670196" y="143026"/>
            <a:ext cx="62400" cy="1056000"/>
            <a:chOff x="0" y="0"/>
            <a:chExt cx="83200" cy="1408000"/>
          </a:xfrm>
        </p:grpSpPr>
        <p:sp>
          <p:nvSpPr>
            <p:cNvPr id="8" name="Freeform 8"/>
            <p:cNvSpPr/>
            <p:nvPr/>
          </p:nvSpPr>
          <p:spPr>
            <a:xfrm>
              <a:off x="0" y="0"/>
              <a:ext cx="83185" cy="1408049"/>
            </a:xfrm>
            <a:custGeom>
              <a:avLst/>
              <a:gdLst/>
              <a:ahLst/>
              <a:cxnLst/>
              <a:rect l="l" t="t" r="r" b="b"/>
              <a:pathLst>
                <a:path w="83185" h="1408049">
                  <a:moveTo>
                    <a:pt x="0" y="0"/>
                  </a:moveTo>
                  <a:lnTo>
                    <a:pt x="83185" y="0"/>
                  </a:lnTo>
                  <a:lnTo>
                    <a:pt x="83185" y="1408049"/>
                  </a:lnTo>
                  <a:lnTo>
                    <a:pt x="0" y="1408049"/>
                  </a:lnTo>
                  <a:close/>
                </a:path>
              </a:pathLst>
            </a:custGeom>
            <a:solidFill>
              <a:srgbClr val="F5A700"/>
            </a:solidFill>
          </p:spPr>
        </p:sp>
      </p:grpSp>
      <p:grpSp>
        <p:nvGrpSpPr>
          <p:cNvPr id="9" name="Group 9"/>
          <p:cNvGrpSpPr/>
          <p:nvPr/>
        </p:nvGrpSpPr>
        <p:grpSpPr>
          <a:xfrm>
            <a:off x="2882476" y="878062"/>
            <a:ext cx="625800" cy="321600"/>
            <a:chOff x="0" y="0"/>
            <a:chExt cx="834400" cy="428800"/>
          </a:xfrm>
        </p:grpSpPr>
        <p:sp>
          <p:nvSpPr>
            <p:cNvPr id="10" name="Freeform 10"/>
            <p:cNvSpPr/>
            <p:nvPr/>
          </p:nvSpPr>
          <p:spPr>
            <a:xfrm>
              <a:off x="0" y="0"/>
              <a:ext cx="834390" cy="428752"/>
            </a:xfrm>
            <a:custGeom>
              <a:avLst/>
              <a:gdLst/>
              <a:ahLst/>
              <a:cxnLst/>
              <a:rect l="l" t="t" r="r" b="b"/>
              <a:pathLst>
                <a:path w="834390" h="428752">
                  <a:moveTo>
                    <a:pt x="0" y="0"/>
                  </a:moveTo>
                  <a:lnTo>
                    <a:pt x="575310" y="0"/>
                  </a:lnTo>
                  <a:lnTo>
                    <a:pt x="834390" y="214376"/>
                  </a:lnTo>
                  <a:lnTo>
                    <a:pt x="575310" y="428752"/>
                  </a:lnTo>
                  <a:lnTo>
                    <a:pt x="0" y="428752"/>
                  </a:lnTo>
                  <a:close/>
                </a:path>
              </a:pathLst>
            </a:custGeom>
            <a:solidFill>
              <a:srgbClr val="0033CC"/>
            </a:solidFill>
          </p:spPr>
        </p:sp>
      </p:grpSp>
      <p:sp>
        <p:nvSpPr>
          <p:cNvPr id="11" name="TextBox 11"/>
          <p:cNvSpPr txBox="1"/>
          <p:nvPr/>
        </p:nvSpPr>
        <p:spPr>
          <a:xfrm>
            <a:off x="592121" y="1737100"/>
            <a:ext cx="16334104" cy="5356479"/>
          </a:xfrm>
          <a:prstGeom prst="rect">
            <a:avLst/>
          </a:prstGeom>
        </p:spPr>
        <p:txBody>
          <a:bodyPr lIns="0" tIns="0" rIns="0" bIns="0" rtlCol="0" anchor="t">
            <a:spAutoFit/>
          </a:bodyPr>
          <a:lstStyle/>
          <a:p>
            <a:pPr algn="l">
              <a:lnSpc>
                <a:spcPts val="3828"/>
              </a:lnSpc>
            </a:pPr>
            <a:r>
              <a:rPr lang="en-US" sz="2900" b="1">
                <a:solidFill>
                  <a:srgbClr val="000000"/>
                </a:solidFill>
                <a:latin typeface="Times New Roman Bold"/>
                <a:ea typeface="Times New Roman Bold"/>
                <a:cs typeface="Times New Roman Bold"/>
                <a:sym typeface="Times New Roman Bold"/>
              </a:rPr>
              <a:t>. Mục Tiêu Chất Lượng (Quality Objectives)</a:t>
            </a:r>
          </a:p>
          <a:p>
            <a:pPr marL="699771" lvl="1" indent="-349885" algn="l">
              <a:lnSpc>
                <a:spcPts val="3828"/>
              </a:lnSpc>
              <a:buFont typeface="Arial"/>
              <a:buChar char="•"/>
            </a:pPr>
            <a:r>
              <a:rPr lang="en-US" sz="2900">
                <a:solidFill>
                  <a:srgbClr val="000000"/>
                </a:solidFill>
                <a:latin typeface="Times New Roman"/>
                <a:ea typeface="Times New Roman"/>
                <a:cs typeface="Times New Roman"/>
                <a:sym typeface="Times New Roman"/>
              </a:rPr>
              <a:t>Đạt tỷ lệ Test Case Passed tối thiểu 80% cho các tính năng có độ ưu tiên “High” </a:t>
            </a:r>
          </a:p>
          <a:p>
            <a:pPr marL="699771" lvl="1" indent="-349885" algn="l">
              <a:lnSpc>
                <a:spcPts val="3828"/>
              </a:lnSpc>
              <a:buFont typeface="Arial"/>
              <a:buChar char="•"/>
            </a:pPr>
            <a:r>
              <a:rPr lang="en-US" sz="2900">
                <a:solidFill>
                  <a:srgbClr val="000000"/>
                </a:solidFill>
                <a:latin typeface="Times New Roman"/>
                <a:ea typeface="Times New Roman"/>
                <a:cs typeface="Times New Roman"/>
                <a:sym typeface="Times New Roman"/>
              </a:rPr>
              <a:t>Đảm bảo 95% các yêu cầu chức năng và phi chức năng về bảo mật (Mã hóa HTTPS, Kiểm soát truy cập) đã được bao phủ bởi Test Case.</a:t>
            </a:r>
          </a:p>
          <a:p>
            <a:pPr marL="699771" lvl="1" indent="-349885" algn="l">
              <a:lnSpc>
                <a:spcPts val="3828"/>
              </a:lnSpc>
              <a:buFont typeface="Arial"/>
              <a:buChar char="•"/>
            </a:pPr>
            <a:r>
              <a:rPr lang="en-US" sz="2900">
                <a:solidFill>
                  <a:srgbClr val="000000"/>
                </a:solidFill>
                <a:latin typeface="Times New Roman"/>
                <a:ea typeface="Times New Roman"/>
                <a:cs typeface="Times New Roman"/>
                <a:sym typeface="Times New Roman"/>
              </a:rPr>
              <a:t>Phát hiện và mô tả ít nhất 2 lỗi nghiêm trọng (Critical/High)</a:t>
            </a:r>
          </a:p>
          <a:p>
            <a:pPr marL="699771" lvl="1" indent="-349885" algn="l">
              <a:lnSpc>
                <a:spcPts val="3828"/>
              </a:lnSpc>
            </a:pPr>
            <a:r>
              <a:rPr lang="en-US" sz="2900" b="1">
                <a:solidFill>
                  <a:srgbClr val="000000"/>
                </a:solidFill>
                <a:latin typeface="Times New Roman Bold"/>
                <a:ea typeface="Times New Roman Bold"/>
                <a:cs typeface="Times New Roman Bold"/>
                <a:sym typeface="Times New Roman Bold"/>
              </a:rPr>
              <a:t>. Tài Nguyên và Môi Trường (Resources &amp; Environment)</a:t>
            </a:r>
          </a:p>
          <a:p>
            <a:pPr marL="699771" lvl="1" indent="-349885" algn="l">
              <a:lnSpc>
                <a:spcPts val="3828"/>
              </a:lnSpc>
              <a:buFont typeface="Arial"/>
              <a:buChar char="•"/>
            </a:pPr>
            <a:r>
              <a:rPr lang="en-US" sz="2900">
                <a:solidFill>
                  <a:srgbClr val="000000"/>
                </a:solidFill>
                <a:latin typeface="Times New Roman"/>
                <a:ea typeface="Times New Roman"/>
                <a:cs typeface="Times New Roman"/>
                <a:sym typeface="Times New Roman"/>
              </a:rPr>
              <a:t>Môi trường Phần mềm (Test Environment): Windows 10/11.</a:t>
            </a:r>
          </a:p>
          <a:p>
            <a:pPr marL="699771" lvl="1" indent="-349885" algn="l">
              <a:lnSpc>
                <a:spcPts val="3828"/>
              </a:lnSpc>
              <a:buFont typeface="Arial"/>
              <a:buChar char="•"/>
            </a:pPr>
            <a:r>
              <a:rPr lang="en-US" sz="2900">
                <a:solidFill>
                  <a:srgbClr val="000000"/>
                </a:solidFill>
                <a:latin typeface="Times New Roman"/>
                <a:ea typeface="Times New Roman"/>
                <a:cs typeface="Times New Roman"/>
                <a:sym typeface="Times New Roman"/>
              </a:rPr>
              <a:t>Tài khoản kiểm thử: 5 tài khoản admin để có thể kiểm thử các chức năng quản trị, 10 tài khoản user thực hiện kiểm thử các chức năng người dùng.</a:t>
            </a:r>
          </a:p>
          <a:p>
            <a:pPr marL="699771" lvl="1" indent="-349885" algn="l">
              <a:lnSpc>
                <a:spcPts val="3828"/>
              </a:lnSpc>
              <a:buFont typeface="Arial"/>
              <a:buChar char="•"/>
            </a:pPr>
            <a:r>
              <a:rPr lang="en-US" sz="2900">
                <a:solidFill>
                  <a:srgbClr val="000000"/>
                </a:solidFill>
                <a:latin typeface="Times New Roman"/>
                <a:ea typeface="Times New Roman"/>
                <a:cs typeface="Times New Roman"/>
                <a:sym typeface="Times New Roman"/>
              </a:rPr>
              <a:t>Công cụ hỗ trợ: Google Sheets (lập Test Case, ghi kết quả), Google Docs (soạn báo cáo )</a:t>
            </a:r>
          </a:p>
          <a:p>
            <a:pPr marL="699771" lvl="1" indent="-349885" algn="just">
              <a:lnSpc>
                <a:spcPts val="3828"/>
              </a:lnSpc>
            </a:pPr>
            <a:endParaRPr lang="en-US" sz="2900">
              <a:solidFill>
                <a:srgbClr val="000000"/>
              </a:solidFill>
              <a:latin typeface="Times New Roman"/>
              <a:ea typeface="Times New Roman"/>
              <a:cs typeface="Times New Roman"/>
              <a:sym typeface="Times New Roman"/>
            </a:endParaRPr>
          </a:p>
        </p:txBody>
      </p:sp>
      <p:grpSp>
        <p:nvGrpSpPr>
          <p:cNvPr id="12" name="Group 12"/>
          <p:cNvGrpSpPr/>
          <p:nvPr/>
        </p:nvGrpSpPr>
        <p:grpSpPr>
          <a:xfrm>
            <a:off x="3660676" y="748426"/>
            <a:ext cx="12291000" cy="605400"/>
            <a:chOff x="0" y="0"/>
            <a:chExt cx="16388000" cy="807200"/>
          </a:xfrm>
        </p:grpSpPr>
        <p:sp>
          <p:nvSpPr>
            <p:cNvPr id="13" name="Freeform 13"/>
            <p:cNvSpPr/>
            <p:nvPr/>
          </p:nvSpPr>
          <p:spPr>
            <a:xfrm>
              <a:off x="0" y="0"/>
              <a:ext cx="16388000" cy="807200"/>
            </a:xfrm>
            <a:custGeom>
              <a:avLst/>
              <a:gdLst/>
              <a:ahLst/>
              <a:cxnLst/>
              <a:rect l="l" t="t" r="r" b="b"/>
              <a:pathLst>
                <a:path w="16388000" h="807200">
                  <a:moveTo>
                    <a:pt x="0" y="0"/>
                  </a:moveTo>
                  <a:lnTo>
                    <a:pt x="16388000" y="0"/>
                  </a:lnTo>
                  <a:lnTo>
                    <a:pt x="16388000" y="807200"/>
                  </a:lnTo>
                  <a:lnTo>
                    <a:pt x="0" y="807200"/>
                  </a:lnTo>
                  <a:close/>
                </a:path>
              </a:pathLst>
            </a:custGeom>
            <a:solidFill>
              <a:srgbClr val="000000">
                <a:alpha val="0"/>
              </a:srgbClr>
            </a:solidFill>
          </p:spPr>
        </p:sp>
        <p:sp>
          <p:nvSpPr>
            <p:cNvPr id="14" name="TextBox 14"/>
            <p:cNvSpPr txBox="1"/>
            <p:nvPr/>
          </p:nvSpPr>
          <p:spPr>
            <a:xfrm>
              <a:off x="0" y="28575"/>
              <a:ext cx="16388000" cy="778625"/>
            </a:xfrm>
            <a:prstGeom prst="rect">
              <a:avLst/>
            </a:prstGeom>
          </p:spPr>
          <p:txBody>
            <a:bodyPr lIns="0" tIns="0" rIns="0" bIns="0" rtlCol="0" anchor="ctr"/>
            <a:lstStyle/>
            <a:p>
              <a:pPr algn="l">
                <a:lnSpc>
                  <a:spcPts val="3672"/>
                </a:lnSpc>
              </a:pPr>
              <a:r>
                <a:rPr lang="en-US" sz="3400">
                  <a:solidFill>
                    <a:srgbClr val="FF9900"/>
                  </a:solidFill>
                  <a:latin typeface="Roboto"/>
                  <a:ea typeface="Roboto"/>
                  <a:cs typeface="Roboto"/>
                  <a:sym typeface="Roboto"/>
                </a:rPr>
                <a:t>Mục Tiêu Chất Lượng &amp; Tài Nguyên</a:t>
              </a: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sp>
      <p:grpSp>
        <p:nvGrpSpPr>
          <p:cNvPr id="3" name="Group 3"/>
          <p:cNvGrpSpPr>
            <a:grpSpLocks noChangeAspect="1"/>
          </p:cNvGrpSpPr>
          <p:nvPr/>
        </p:nvGrpSpPr>
        <p:grpSpPr>
          <a:xfrm>
            <a:off x="155352" y="-409644"/>
            <a:ext cx="2203894" cy="2203894"/>
            <a:chOff x="0" y="0"/>
            <a:chExt cx="2938525" cy="2938525"/>
          </a:xfrm>
        </p:grpSpPr>
        <p:sp>
          <p:nvSpPr>
            <p:cNvPr id="4" name="Freeform 4"/>
            <p:cNvSpPr/>
            <p:nvPr/>
          </p:nvSpPr>
          <p:spPr>
            <a:xfrm>
              <a:off x="0" y="0"/>
              <a:ext cx="2938526" cy="2938526"/>
            </a:xfrm>
            <a:custGeom>
              <a:avLst/>
              <a:gdLst/>
              <a:ahLst/>
              <a:cxnLst/>
              <a:rect l="l" t="t" r="r" b="b"/>
              <a:pathLst>
                <a:path w="2938526" h="2938526">
                  <a:moveTo>
                    <a:pt x="0" y="0"/>
                  </a:moveTo>
                  <a:lnTo>
                    <a:pt x="2938526" y="0"/>
                  </a:lnTo>
                  <a:lnTo>
                    <a:pt x="2938526" y="2938526"/>
                  </a:lnTo>
                  <a:lnTo>
                    <a:pt x="0" y="2938526"/>
                  </a:lnTo>
                  <a:lnTo>
                    <a:pt x="0" y="0"/>
                  </a:lnTo>
                  <a:close/>
                </a:path>
              </a:pathLst>
            </a:custGeom>
            <a:blipFill>
              <a:blip r:embed="rId4"/>
              <a:stretch>
                <a:fillRect/>
              </a:stretch>
            </a:blipFill>
          </p:spPr>
        </p:sp>
      </p:grpSp>
      <p:grpSp>
        <p:nvGrpSpPr>
          <p:cNvPr id="5" name="Group 5"/>
          <p:cNvGrpSpPr>
            <a:grpSpLocks noChangeAspect="1"/>
          </p:cNvGrpSpPr>
          <p:nvPr/>
        </p:nvGrpSpPr>
        <p:grpSpPr>
          <a:xfrm>
            <a:off x="15683212" y="140336"/>
            <a:ext cx="2486026" cy="1085850"/>
            <a:chOff x="0" y="0"/>
            <a:chExt cx="3314701" cy="1447800"/>
          </a:xfrm>
        </p:grpSpPr>
        <p:sp>
          <p:nvSpPr>
            <p:cNvPr id="6" name="Freeform 6"/>
            <p:cNvSpPr/>
            <p:nvPr/>
          </p:nvSpPr>
          <p:spPr>
            <a:xfrm>
              <a:off x="0" y="0"/>
              <a:ext cx="3314700" cy="1447800"/>
            </a:xfrm>
            <a:custGeom>
              <a:avLst/>
              <a:gdLst/>
              <a:ahLst/>
              <a:cxnLst/>
              <a:rect l="l" t="t" r="r" b="b"/>
              <a:pathLst>
                <a:path w="3314700" h="1447800">
                  <a:moveTo>
                    <a:pt x="0" y="0"/>
                  </a:moveTo>
                  <a:lnTo>
                    <a:pt x="3314700" y="0"/>
                  </a:lnTo>
                  <a:lnTo>
                    <a:pt x="3314700" y="1447800"/>
                  </a:lnTo>
                  <a:lnTo>
                    <a:pt x="0" y="1447800"/>
                  </a:lnTo>
                  <a:lnTo>
                    <a:pt x="0" y="0"/>
                  </a:lnTo>
                  <a:close/>
                </a:path>
              </a:pathLst>
            </a:custGeom>
            <a:blipFill>
              <a:blip r:embed="rId5"/>
              <a:stretch>
                <a:fillRect/>
              </a:stretch>
            </a:blipFill>
          </p:spPr>
        </p:sp>
      </p:grpSp>
      <p:grpSp>
        <p:nvGrpSpPr>
          <p:cNvPr id="7" name="Group 7"/>
          <p:cNvGrpSpPr/>
          <p:nvPr/>
        </p:nvGrpSpPr>
        <p:grpSpPr>
          <a:xfrm>
            <a:off x="2670196" y="143026"/>
            <a:ext cx="62400" cy="1056000"/>
            <a:chOff x="0" y="0"/>
            <a:chExt cx="83200" cy="1408000"/>
          </a:xfrm>
        </p:grpSpPr>
        <p:sp>
          <p:nvSpPr>
            <p:cNvPr id="8" name="Freeform 8"/>
            <p:cNvSpPr/>
            <p:nvPr/>
          </p:nvSpPr>
          <p:spPr>
            <a:xfrm>
              <a:off x="0" y="0"/>
              <a:ext cx="83185" cy="1408049"/>
            </a:xfrm>
            <a:custGeom>
              <a:avLst/>
              <a:gdLst/>
              <a:ahLst/>
              <a:cxnLst/>
              <a:rect l="l" t="t" r="r" b="b"/>
              <a:pathLst>
                <a:path w="83185" h="1408049">
                  <a:moveTo>
                    <a:pt x="0" y="0"/>
                  </a:moveTo>
                  <a:lnTo>
                    <a:pt x="83185" y="0"/>
                  </a:lnTo>
                  <a:lnTo>
                    <a:pt x="83185" y="1408049"/>
                  </a:lnTo>
                  <a:lnTo>
                    <a:pt x="0" y="1408049"/>
                  </a:lnTo>
                  <a:close/>
                </a:path>
              </a:pathLst>
            </a:custGeom>
            <a:solidFill>
              <a:srgbClr val="F5A700"/>
            </a:solidFill>
          </p:spPr>
        </p:sp>
      </p:grpSp>
      <p:grpSp>
        <p:nvGrpSpPr>
          <p:cNvPr id="9" name="Group 9"/>
          <p:cNvGrpSpPr/>
          <p:nvPr/>
        </p:nvGrpSpPr>
        <p:grpSpPr>
          <a:xfrm>
            <a:off x="2882476" y="878062"/>
            <a:ext cx="625800" cy="321600"/>
            <a:chOff x="0" y="0"/>
            <a:chExt cx="834400" cy="428800"/>
          </a:xfrm>
        </p:grpSpPr>
        <p:sp>
          <p:nvSpPr>
            <p:cNvPr id="10" name="Freeform 10"/>
            <p:cNvSpPr/>
            <p:nvPr/>
          </p:nvSpPr>
          <p:spPr>
            <a:xfrm>
              <a:off x="0" y="0"/>
              <a:ext cx="834390" cy="428752"/>
            </a:xfrm>
            <a:custGeom>
              <a:avLst/>
              <a:gdLst/>
              <a:ahLst/>
              <a:cxnLst/>
              <a:rect l="l" t="t" r="r" b="b"/>
              <a:pathLst>
                <a:path w="834390" h="428752">
                  <a:moveTo>
                    <a:pt x="0" y="0"/>
                  </a:moveTo>
                  <a:lnTo>
                    <a:pt x="575310" y="0"/>
                  </a:lnTo>
                  <a:lnTo>
                    <a:pt x="834390" y="214376"/>
                  </a:lnTo>
                  <a:lnTo>
                    <a:pt x="575310" y="428752"/>
                  </a:lnTo>
                  <a:lnTo>
                    <a:pt x="0" y="428752"/>
                  </a:lnTo>
                  <a:close/>
                </a:path>
              </a:pathLst>
            </a:custGeom>
            <a:solidFill>
              <a:srgbClr val="0033CC"/>
            </a:solidFill>
          </p:spPr>
        </p:sp>
      </p:grpSp>
      <p:grpSp>
        <p:nvGrpSpPr>
          <p:cNvPr id="11" name="Group 11"/>
          <p:cNvGrpSpPr/>
          <p:nvPr/>
        </p:nvGrpSpPr>
        <p:grpSpPr>
          <a:xfrm>
            <a:off x="3283200" y="143026"/>
            <a:ext cx="15004800" cy="665721"/>
            <a:chOff x="0" y="0"/>
            <a:chExt cx="20006400" cy="887628"/>
          </a:xfrm>
        </p:grpSpPr>
        <p:sp>
          <p:nvSpPr>
            <p:cNvPr id="12" name="Freeform 12"/>
            <p:cNvSpPr/>
            <p:nvPr/>
          </p:nvSpPr>
          <p:spPr>
            <a:xfrm>
              <a:off x="0" y="0"/>
              <a:ext cx="20006401" cy="887628"/>
            </a:xfrm>
            <a:custGeom>
              <a:avLst/>
              <a:gdLst/>
              <a:ahLst/>
              <a:cxnLst/>
              <a:rect l="l" t="t" r="r" b="b"/>
              <a:pathLst>
                <a:path w="20006401" h="887628">
                  <a:moveTo>
                    <a:pt x="0" y="0"/>
                  </a:moveTo>
                  <a:lnTo>
                    <a:pt x="20006401" y="0"/>
                  </a:lnTo>
                  <a:lnTo>
                    <a:pt x="20006401" y="887628"/>
                  </a:lnTo>
                  <a:lnTo>
                    <a:pt x="0" y="887628"/>
                  </a:lnTo>
                  <a:close/>
                </a:path>
              </a:pathLst>
            </a:custGeom>
            <a:solidFill>
              <a:srgbClr val="000000">
                <a:alpha val="0"/>
              </a:srgbClr>
            </a:solidFill>
          </p:spPr>
        </p:sp>
        <p:sp>
          <p:nvSpPr>
            <p:cNvPr id="13" name="TextBox 13"/>
            <p:cNvSpPr txBox="1"/>
            <p:nvPr/>
          </p:nvSpPr>
          <p:spPr>
            <a:xfrm>
              <a:off x="0" y="-76200"/>
              <a:ext cx="20006400" cy="963828"/>
            </a:xfrm>
            <a:prstGeom prst="rect">
              <a:avLst/>
            </a:prstGeom>
          </p:spPr>
          <p:txBody>
            <a:bodyPr lIns="0" tIns="0" rIns="0" bIns="0" rtlCol="0" anchor="ctr"/>
            <a:lstStyle/>
            <a:p>
              <a:pPr algn="l">
                <a:lnSpc>
                  <a:spcPts val="4471"/>
                </a:lnSpc>
              </a:pPr>
              <a:endParaRPr/>
            </a:p>
          </p:txBody>
        </p:sp>
      </p:grpSp>
      <p:sp>
        <p:nvSpPr>
          <p:cNvPr id="14" name="TextBox 14"/>
          <p:cNvSpPr txBox="1"/>
          <p:nvPr/>
        </p:nvSpPr>
        <p:spPr>
          <a:xfrm>
            <a:off x="477206" y="1746625"/>
            <a:ext cx="17692032" cy="5614038"/>
          </a:xfrm>
          <a:prstGeom prst="rect">
            <a:avLst/>
          </a:prstGeom>
        </p:spPr>
        <p:txBody>
          <a:bodyPr lIns="0" tIns="0" rIns="0" bIns="0" rtlCol="0" anchor="t">
            <a:spAutoFit/>
          </a:bodyPr>
          <a:lstStyle/>
          <a:p>
            <a:pPr algn="l">
              <a:lnSpc>
                <a:spcPts val="3695"/>
              </a:lnSpc>
            </a:pPr>
            <a:r>
              <a:rPr lang="en-US" sz="2799" b="1">
                <a:solidFill>
                  <a:srgbClr val="1B1C1D"/>
                </a:solidFill>
                <a:latin typeface="Times New Roman Bold"/>
                <a:ea typeface="Times New Roman Bold"/>
                <a:cs typeface="Times New Roman Bold"/>
                <a:sym typeface="Times New Roman Bold"/>
              </a:rPr>
              <a:t>Rủi Ro và Kế Hoạch Giảm Thiểu (Risks &amp; Mitigation)</a:t>
            </a:r>
          </a:p>
          <a:p>
            <a:pPr marL="675640" lvl="1" indent="-337820" algn="l">
              <a:lnSpc>
                <a:spcPts val="3695"/>
              </a:lnSpc>
              <a:buFont typeface="Arial"/>
              <a:buChar char="•"/>
            </a:pPr>
            <a:r>
              <a:rPr lang="en-US" sz="2799" b="1">
                <a:solidFill>
                  <a:srgbClr val="1B1C1D"/>
                </a:solidFill>
                <a:latin typeface="Times New Roman Bold"/>
                <a:ea typeface="Times New Roman Bold"/>
                <a:cs typeface="Times New Roman Bold"/>
                <a:sym typeface="Times New Roman Bold"/>
              </a:rPr>
              <a:t>Rủi ro chức năng:</a:t>
            </a:r>
            <a:r>
              <a:rPr lang="en-US" sz="2799">
                <a:solidFill>
                  <a:srgbClr val="1B1C1D"/>
                </a:solidFill>
                <a:latin typeface="Times New Roman"/>
                <a:ea typeface="Times New Roman"/>
                <a:cs typeface="Times New Roman"/>
                <a:sym typeface="Times New Roman"/>
              </a:rPr>
              <a:t> lỗi trong quá trình thanh toán khiến người dùng không thể hoàn tất đơn hàng.</a:t>
            </a:r>
          </a:p>
          <a:p>
            <a:pPr marL="2504440" lvl="2" indent="-834813" algn="l">
              <a:lnSpc>
                <a:spcPts val="3695"/>
              </a:lnSpc>
              <a:buFont typeface="Arial"/>
              <a:buChar char="⚬"/>
            </a:pPr>
            <a:r>
              <a:rPr lang="en-US" sz="2799">
                <a:solidFill>
                  <a:srgbClr val="1B1C1D"/>
                </a:solidFill>
                <a:latin typeface="Times New Roman"/>
                <a:ea typeface="Times New Roman"/>
                <a:cs typeface="Times New Roman"/>
                <a:sym typeface="Times New Roman"/>
              </a:rPr>
              <a:t>Mức độ: cao</a:t>
            </a:r>
          </a:p>
          <a:p>
            <a:pPr marL="2504440" lvl="2" indent="-834813" algn="l">
              <a:lnSpc>
                <a:spcPts val="3695"/>
              </a:lnSpc>
              <a:buFont typeface="Arial"/>
              <a:buChar char="⚬"/>
            </a:pPr>
            <a:r>
              <a:rPr lang="en-US" sz="2799">
                <a:solidFill>
                  <a:srgbClr val="1B1C1D"/>
                </a:solidFill>
                <a:latin typeface="Times New Roman"/>
                <a:ea typeface="Times New Roman"/>
                <a:cs typeface="Times New Roman"/>
                <a:sym typeface="Times New Roman"/>
              </a:rPr>
              <a:t>Kế hoạch giảm thiểu: tập trung thiết kế test case cho tính năng thanh toán, bao gồm các kịch bản giao dịch không thành công.</a:t>
            </a:r>
          </a:p>
          <a:p>
            <a:pPr marL="675640" lvl="1" indent="-337820" algn="l">
              <a:lnSpc>
                <a:spcPts val="3695"/>
              </a:lnSpc>
              <a:buFont typeface="Arial"/>
              <a:buChar char="•"/>
            </a:pPr>
            <a:r>
              <a:rPr lang="en-US" sz="2799" b="1">
                <a:solidFill>
                  <a:srgbClr val="1B1C1D"/>
                </a:solidFill>
                <a:latin typeface="Times New Roman Bold"/>
                <a:ea typeface="Times New Roman Bold"/>
                <a:cs typeface="Times New Roman Bold"/>
                <a:sym typeface="Times New Roman Bold"/>
              </a:rPr>
              <a:t>Rủi ro bảo mật:</a:t>
            </a:r>
            <a:r>
              <a:rPr lang="en-US" sz="2799">
                <a:solidFill>
                  <a:srgbClr val="1B1C1D"/>
                </a:solidFill>
                <a:latin typeface="Times New Roman"/>
                <a:ea typeface="Times New Roman"/>
                <a:cs typeface="Times New Roman"/>
                <a:sym typeface="Times New Roman"/>
              </a:rPr>
              <a:t> người dùng có thể truy cập vào thông tin quản trị do kiểm soát truy cập yếu.</a:t>
            </a:r>
          </a:p>
          <a:p>
            <a:pPr marL="2504440" lvl="2" indent="-834813" algn="l">
              <a:lnSpc>
                <a:spcPts val="3695"/>
              </a:lnSpc>
              <a:buFont typeface="Arial"/>
              <a:buChar char="⚬"/>
            </a:pPr>
            <a:r>
              <a:rPr lang="en-US" sz="2799">
                <a:solidFill>
                  <a:srgbClr val="1B1C1D"/>
                </a:solidFill>
                <a:latin typeface="Times New Roman"/>
                <a:ea typeface="Times New Roman"/>
                <a:cs typeface="Times New Roman"/>
                <a:sym typeface="Times New Roman"/>
              </a:rPr>
              <a:t>Mức độ: cao</a:t>
            </a:r>
          </a:p>
          <a:p>
            <a:pPr marL="2504440" lvl="2" indent="-834813" algn="l">
              <a:lnSpc>
                <a:spcPts val="3695"/>
              </a:lnSpc>
              <a:buFont typeface="Arial"/>
              <a:buChar char="⚬"/>
            </a:pPr>
            <a:r>
              <a:rPr lang="en-US" sz="2799">
                <a:solidFill>
                  <a:srgbClr val="1B1C1D"/>
                </a:solidFill>
                <a:latin typeface="Times New Roman"/>
                <a:ea typeface="Times New Roman"/>
                <a:cs typeface="Times New Roman"/>
                <a:sym typeface="Times New Roman"/>
              </a:rPr>
              <a:t>Kế hoạch giảm thiểu: thiết kế ít nhất 2 test case kiểm tra việc truy cập trái phép vào dashboard và các trang quản lý sản phẩm.</a:t>
            </a:r>
          </a:p>
          <a:p>
            <a:pPr marL="2504440" lvl="2" indent="-834813" algn="l">
              <a:lnSpc>
                <a:spcPts val="3695"/>
              </a:lnSpc>
            </a:pPr>
            <a:endParaRPr lang="en-US" sz="2799">
              <a:solidFill>
                <a:srgbClr val="1B1C1D"/>
              </a:solidFill>
              <a:latin typeface="Times New Roman"/>
              <a:ea typeface="Times New Roman"/>
              <a:cs typeface="Times New Roman"/>
              <a:sym typeface="Times New Roman"/>
            </a:endParaRPr>
          </a:p>
          <a:p>
            <a:pPr marL="2504440" lvl="2" indent="-834813" algn="l">
              <a:lnSpc>
                <a:spcPts val="3695"/>
              </a:lnSpc>
            </a:pPr>
            <a:endParaRPr lang="en-US" sz="2799">
              <a:solidFill>
                <a:srgbClr val="1B1C1D"/>
              </a:solidFill>
              <a:latin typeface="Times New Roman"/>
              <a:ea typeface="Times New Roman"/>
              <a:cs typeface="Times New Roman"/>
              <a:sym typeface="Times New Roman"/>
            </a:endParaRPr>
          </a:p>
          <a:p>
            <a:pPr marL="2504440" lvl="2" indent="-834813" algn="l">
              <a:lnSpc>
                <a:spcPts val="3863"/>
              </a:lnSpc>
            </a:pPr>
            <a:endParaRPr lang="en-US" sz="2799">
              <a:solidFill>
                <a:srgbClr val="1B1C1D"/>
              </a:solidFill>
              <a:latin typeface="Times New Roman"/>
              <a:ea typeface="Times New Roman"/>
              <a:cs typeface="Times New Roman"/>
              <a:sym typeface="Times New Roman"/>
            </a:endParaRPr>
          </a:p>
        </p:txBody>
      </p:sp>
      <p:grpSp>
        <p:nvGrpSpPr>
          <p:cNvPr id="15" name="Group 15"/>
          <p:cNvGrpSpPr/>
          <p:nvPr/>
        </p:nvGrpSpPr>
        <p:grpSpPr>
          <a:xfrm>
            <a:off x="3458250" y="748276"/>
            <a:ext cx="12291000" cy="605400"/>
            <a:chOff x="0" y="0"/>
            <a:chExt cx="16388000" cy="807200"/>
          </a:xfrm>
        </p:grpSpPr>
        <p:sp>
          <p:nvSpPr>
            <p:cNvPr id="16" name="Freeform 16"/>
            <p:cNvSpPr/>
            <p:nvPr/>
          </p:nvSpPr>
          <p:spPr>
            <a:xfrm>
              <a:off x="0" y="0"/>
              <a:ext cx="16388000" cy="807200"/>
            </a:xfrm>
            <a:custGeom>
              <a:avLst/>
              <a:gdLst/>
              <a:ahLst/>
              <a:cxnLst/>
              <a:rect l="l" t="t" r="r" b="b"/>
              <a:pathLst>
                <a:path w="16388000" h="807200">
                  <a:moveTo>
                    <a:pt x="0" y="0"/>
                  </a:moveTo>
                  <a:lnTo>
                    <a:pt x="16388000" y="0"/>
                  </a:lnTo>
                  <a:lnTo>
                    <a:pt x="16388000" y="807200"/>
                  </a:lnTo>
                  <a:lnTo>
                    <a:pt x="0" y="807200"/>
                  </a:lnTo>
                  <a:close/>
                </a:path>
              </a:pathLst>
            </a:custGeom>
            <a:solidFill>
              <a:srgbClr val="000000">
                <a:alpha val="0"/>
              </a:srgbClr>
            </a:solidFill>
          </p:spPr>
        </p:sp>
        <p:sp>
          <p:nvSpPr>
            <p:cNvPr id="17" name="TextBox 17"/>
            <p:cNvSpPr txBox="1"/>
            <p:nvPr/>
          </p:nvSpPr>
          <p:spPr>
            <a:xfrm>
              <a:off x="0" y="-76200"/>
              <a:ext cx="16388000" cy="883400"/>
            </a:xfrm>
            <a:prstGeom prst="rect">
              <a:avLst/>
            </a:prstGeom>
          </p:spPr>
          <p:txBody>
            <a:bodyPr lIns="0" tIns="0" rIns="0" bIns="0" rtlCol="0" anchor="ctr"/>
            <a:lstStyle/>
            <a:p>
              <a:pPr algn="l">
                <a:lnSpc>
                  <a:spcPts val="4222"/>
                </a:lnSpc>
              </a:pPr>
              <a:r>
                <a:rPr lang="en-US" sz="3060" b="1">
                  <a:solidFill>
                    <a:srgbClr val="F5A700"/>
                  </a:solidFill>
                  <a:latin typeface="Arial Bold"/>
                  <a:ea typeface="Arial Bold"/>
                  <a:cs typeface="Arial Bold"/>
                  <a:sym typeface="Arial Bold"/>
                </a:rPr>
                <a:t>Rủi Ro Chính và Giảm Thiểu (Risks &amp; Mitigations)</a:t>
              </a: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sp>
      <p:grpSp>
        <p:nvGrpSpPr>
          <p:cNvPr id="3" name="Group 3"/>
          <p:cNvGrpSpPr>
            <a:grpSpLocks noChangeAspect="1"/>
          </p:cNvGrpSpPr>
          <p:nvPr/>
        </p:nvGrpSpPr>
        <p:grpSpPr>
          <a:xfrm>
            <a:off x="155352" y="-409644"/>
            <a:ext cx="2203894" cy="2203894"/>
            <a:chOff x="0" y="0"/>
            <a:chExt cx="2938525" cy="2938525"/>
          </a:xfrm>
        </p:grpSpPr>
        <p:sp>
          <p:nvSpPr>
            <p:cNvPr id="4" name="Freeform 4"/>
            <p:cNvSpPr/>
            <p:nvPr/>
          </p:nvSpPr>
          <p:spPr>
            <a:xfrm>
              <a:off x="0" y="0"/>
              <a:ext cx="2938526" cy="2938526"/>
            </a:xfrm>
            <a:custGeom>
              <a:avLst/>
              <a:gdLst/>
              <a:ahLst/>
              <a:cxnLst/>
              <a:rect l="l" t="t" r="r" b="b"/>
              <a:pathLst>
                <a:path w="2938526" h="2938526">
                  <a:moveTo>
                    <a:pt x="0" y="0"/>
                  </a:moveTo>
                  <a:lnTo>
                    <a:pt x="2938526" y="0"/>
                  </a:lnTo>
                  <a:lnTo>
                    <a:pt x="2938526" y="2938526"/>
                  </a:lnTo>
                  <a:lnTo>
                    <a:pt x="0" y="2938526"/>
                  </a:lnTo>
                  <a:lnTo>
                    <a:pt x="0" y="0"/>
                  </a:lnTo>
                  <a:close/>
                </a:path>
              </a:pathLst>
            </a:custGeom>
            <a:blipFill>
              <a:blip r:embed="rId4"/>
              <a:stretch>
                <a:fillRect/>
              </a:stretch>
            </a:blipFill>
          </p:spPr>
        </p:sp>
      </p:grpSp>
      <p:grpSp>
        <p:nvGrpSpPr>
          <p:cNvPr id="5" name="Group 5"/>
          <p:cNvGrpSpPr>
            <a:grpSpLocks noChangeAspect="1"/>
          </p:cNvGrpSpPr>
          <p:nvPr/>
        </p:nvGrpSpPr>
        <p:grpSpPr>
          <a:xfrm>
            <a:off x="15683212" y="140336"/>
            <a:ext cx="2486026" cy="1085850"/>
            <a:chOff x="0" y="0"/>
            <a:chExt cx="3314701" cy="1447800"/>
          </a:xfrm>
        </p:grpSpPr>
        <p:sp>
          <p:nvSpPr>
            <p:cNvPr id="6" name="Freeform 6"/>
            <p:cNvSpPr/>
            <p:nvPr/>
          </p:nvSpPr>
          <p:spPr>
            <a:xfrm>
              <a:off x="0" y="0"/>
              <a:ext cx="3314700" cy="1447800"/>
            </a:xfrm>
            <a:custGeom>
              <a:avLst/>
              <a:gdLst/>
              <a:ahLst/>
              <a:cxnLst/>
              <a:rect l="l" t="t" r="r" b="b"/>
              <a:pathLst>
                <a:path w="3314700" h="1447800">
                  <a:moveTo>
                    <a:pt x="0" y="0"/>
                  </a:moveTo>
                  <a:lnTo>
                    <a:pt x="3314700" y="0"/>
                  </a:lnTo>
                  <a:lnTo>
                    <a:pt x="3314700" y="1447800"/>
                  </a:lnTo>
                  <a:lnTo>
                    <a:pt x="0" y="1447800"/>
                  </a:lnTo>
                  <a:lnTo>
                    <a:pt x="0" y="0"/>
                  </a:lnTo>
                  <a:close/>
                </a:path>
              </a:pathLst>
            </a:custGeom>
            <a:blipFill>
              <a:blip r:embed="rId5"/>
              <a:stretch>
                <a:fillRect/>
              </a:stretch>
            </a:blipFill>
          </p:spPr>
        </p:sp>
      </p:grpSp>
      <p:grpSp>
        <p:nvGrpSpPr>
          <p:cNvPr id="7" name="Group 7"/>
          <p:cNvGrpSpPr>
            <a:grpSpLocks noChangeAspect="1"/>
          </p:cNvGrpSpPr>
          <p:nvPr/>
        </p:nvGrpSpPr>
        <p:grpSpPr>
          <a:xfrm>
            <a:off x="1028700" y="2960439"/>
            <a:ext cx="13369363" cy="6995706"/>
            <a:chOff x="0" y="0"/>
            <a:chExt cx="13944600" cy="7296707"/>
          </a:xfrm>
        </p:grpSpPr>
        <p:sp>
          <p:nvSpPr>
            <p:cNvPr id="8" name="Freeform 8" descr="Effective Test Case Design Strategies: Best practices"/>
            <p:cNvSpPr/>
            <p:nvPr/>
          </p:nvSpPr>
          <p:spPr>
            <a:xfrm>
              <a:off x="0" y="0"/>
              <a:ext cx="13944600" cy="7296658"/>
            </a:xfrm>
            <a:custGeom>
              <a:avLst/>
              <a:gdLst/>
              <a:ahLst/>
              <a:cxnLst/>
              <a:rect l="l" t="t" r="r" b="b"/>
              <a:pathLst>
                <a:path w="13944600" h="7296658">
                  <a:moveTo>
                    <a:pt x="0" y="0"/>
                  </a:moveTo>
                  <a:lnTo>
                    <a:pt x="13944600" y="0"/>
                  </a:lnTo>
                  <a:lnTo>
                    <a:pt x="13944600" y="7296658"/>
                  </a:lnTo>
                  <a:lnTo>
                    <a:pt x="0" y="7296658"/>
                  </a:lnTo>
                  <a:lnTo>
                    <a:pt x="0" y="0"/>
                  </a:lnTo>
                  <a:close/>
                </a:path>
              </a:pathLst>
            </a:custGeom>
            <a:blipFill>
              <a:blip r:embed="rId6"/>
              <a:stretch>
                <a:fillRect b="-13"/>
              </a:stretch>
            </a:blipFill>
          </p:spPr>
        </p:sp>
      </p:grpSp>
      <p:grpSp>
        <p:nvGrpSpPr>
          <p:cNvPr id="9" name="Group 9"/>
          <p:cNvGrpSpPr/>
          <p:nvPr/>
        </p:nvGrpSpPr>
        <p:grpSpPr>
          <a:xfrm>
            <a:off x="4739711" y="1794250"/>
            <a:ext cx="9139390" cy="1662808"/>
            <a:chOff x="0" y="0"/>
            <a:chExt cx="26391779" cy="4801683"/>
          </a:xfrm>
        </p:grpSpPr>
        <p:sp>
          <p:nvSpPr>
            <p:cNvPr id="10" name="Freeform 10"/>
            <p:cNvSpPr/>
            <p:nvPr/>
          </p:nvSpPr>
          <p:spPr>
            <a:xfrm>
              <a:off x="0" y="0"/>
              <a:ext cx="26391763" cy="4801743"/>
            </a:xfrm>
            <a:custGeom>
              <a:avLst/>
              <a:gdLst/>
              <a:ahLst/>
              <a:cxnLst/>
              <a:rect l="l" t="t" r="r" b="b"/>
              <a:pathLst>
                <a:path w="26391763" h="4801743">
                  <a:moveTo>
                    <a:pt x="0" y="0"/>
                  </a:moveTo>
                  <a:lnTo>
                    <a:pt x="26391763" y="0"/>
                  </a:lnTo>
                  <a:lnTo>
                    <a:pt x="26391763" y="4801743"/>
                  </a:lnTo>
                  <a:lnTo>
                    <a:pt x="0" y="4801743"/>
                  </a:lnTo>
                  <a:close/>
                </a:path>
              </a:pathLst>
            </a:custGeom>
            <a:solidFill>
              <a:srgbClr val="F5A700"/>
            </a:solidFill>
          </p:spPr>
        </p:sp>
        <p:sp>
          <p:nvSpPr>
            <p:cNvPr id="11" name="TextBox 11"/>
            <p:cNvSpPr txBox="1"/>
            <p:nvPr/>
          </p:nvSpPr>
          <p:spPr>
            <a:xfrm>
              <a:off x="0" y="-85725"/>
              <a:ext cx="26391779" cy="4887408"/>
            </a:xfrm>
            <a:prstGeom prst="rect">
              <a:avLst/>
            </a:prstGeom>
          </p:spPr>
          <p:txBody>
            <a:bodyPr lIns="23456" tIns="23456" rIns="23456" bIns="23456" rtlCol="0" anchor="ctr"/>
            <a:lstStyle/>
            <a:p>
              <a:pPr algn="ctr">
                <a:lnSpc>
                  <a:spcPts val="9751"/>
                </a:lnSpc>
              </a:pPr>
              <a:r>
                <a:rPr lang="en-US" sz="7387">
                  <a:solidFill>
                    <a:srgbClr val="FFFFFF"/>
                  </a:solidFill>
                  <a:latin typeface="Roboto"/>
                  <a:ea typeface="Roboto"/>
                  <a:cs typeface="Roboto"/>
                  <a:sym typeface="Roboto"/>
                </a:rPr>
                <a:t>TEST CASE</a:t>
              </a: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sp>
      <p:grpSp>
        <p:nvGrpSpPr>
          <p:cNvPr id="3" name="Group 3"/>
          <p:cNvGrpSpPr>
            <a:grpSpLocks noChangeAspect="1"/>
          </p:cNvGrpSpPr>
          <p:nvPr/>
        </p:nvGrpSpPr>
        <p:grpSpPr>
          <a:xfrm>
            <a:off x="155352" y="-409644"/>
            <a:ext cx="2203894" cy="2203894"/>
            <a:chOff x="0" y="0"/>
            <a:chExt cx="2938525" cy="2938525"/>
          </a:xfrm>
        </p:grpSpPr>
        <p:sp>
          <p:nvSpPr>
            <p:cNvPr id="4" name="Freeform 4"/>
            <p:cNvSpPr/>
            <p:nvPr/>
          </p:nvSpPr>
          <p:spPr>
            <a:xfrm>
              <a:off x="0" y="0"/>
              <a:ext cx="2938526" cy="2938526"/>
            </a:xfrm>
            <a:custGeom>
              <a:avLst/>
              <a:gdLst/>
              <a:ahLst/>
              <a:cxnLst/>
              <a:rect l="l" t="t" r="r" b="b"/>
              <a:pathLst>
                <a:path w="2938526" h="2938526">
                  <a:moveTo>
                    <a:pt x="0" y="0"/>
                  </a:moveTo>
                  <a:lnTo>
                    <a:pt x="2938526" y="0"/>
                  </a:lnTo>
                  <a:lnTo>
                    <a:pt x="2938526" y="2938526"/>
                  </a:lnTo>
                  <a:lnTo>
                    <a:pt x="0" y="2938526"/>
                  </a:lnTo>
                  <a:lnTo>
                    <a:pt x="0" y="0"/>
                  </a:lnTo>
                  <a:close/>
                </a:path>
              </a:pathLst>
            </a:custGeom>
            <a:blipFill>
              <a:blip r:embed="rId4"/>
              <a:stretch>
                <a:fillRect/>
              </a:stretch>
            </a:blipFill>
          </p:spPr>
        </p:sp>
      </p:grpSp>
      <p:grpSp>
        <p:nvGrpSpPr>
          <p:cNvPr id="5" name="Group 5"/>
          <p:cNvGrpSpPr>
            <a:grpSpLocks noChangeAspect="1"/>
          </p:cNvGrpSpPr>
          <p:nvPr/>
        </p:nvGrpSpPr>
        <p:grpSpPr>
          <a:xfrm>
            <a:off x="15683212" y="140336"/>
            <a:ext cx="2486026" cy="1085850"/>
            <a:chOff x="0" y="0"/>
            <a:chExt cx="3314701" cy="1447800"/>
          </a:xfrm>
        </p:grpSpPr>
        <p:sp>
          <p:nvSpPr>
            <p:cNvPr id="6" name="Freeform 6"/>
            <p:cNvSpPr/>
            <p:nvPr/>
          </p:nvSpPr>
          <p:spPr>
            <a:xfrm>
              <a:off x="0" y="0"/>
              <a:ext cx="3314700" cy="1447800"/>
            </a:xfrm>
            <a:custGeom>
              <a:avLst/>
              <a:gdLst/>
              <a:ahLst/>
              <a:cxnLst/>
              <a:rect l="l" t="t" r="r" b="b"/>
              <a:pathLst>
                <a:path w="3314700" h="1447800">
                  <a:moveTo>
                    <a:pt x="0" y="0"/>
                  </a:moveTo>
                  <a:lnTo>
                    <a:pt x="3314700" y="0"/>
                  </a:lnTo>
                  <a:lnTo>
                    <a:pt x="3314700" y="1447800"/>
                  </a:lnTo>
                  <a:lnTo>
                    <a:pt x="0" y="1447800"/>
                  </a:lnTo>
                  <a:lnTo>
                    <a:pt x="0" y="0"/>
                  </a:lnTo>
                  <a:close/>
                </a:path>
              </a:pathLst>
            </a:custGeom>
            <a:blipFill>
              <a:blip r:embed="rId5"/>
              <a:stretch>
                <a:fillRect/>
              </a:stretch>
            </a:blipFill>
          </p:spPr>
        </p:sp>
      </p:grpSp>
      <p:grpSp>
        <p:nvGrpSpPr>
          <p:cNvPr id="7" name="Group 7"/>
          <p:cNvGrpSpPr/>
          <p:nvPr/>
        </p:nvGrpSpPr>
        <p:grpSpPr>
          <a:xfrm>
            <a:off x="2670196" y="143026"/>
            <a:ext cx="62400" cy="1056000"/>
            <a:chOff x="0" y="0"/>
            <a:chExt cx="83200" cy="1408000"/>
          </a:xfrm>
        </p:grpSpPr>
        <p:sp>
          <p:nvSpPr>
            <p:cNvPr id="8" name="Freeform 8"/>
            <p:cNvSpPr/>
            <p:nvPr/>
          </p:nvSpPr>
          <p:spPr>
            <a:xfrm>
              <a:off x="0" y="0"/>
              <a:ext cx="83185" cy="1408049"/>
            </a:xfrm>
            <a:custGeom>
              <a:avLst/>
              <a:gdLst/>
              <a:ahLst/>
              <a:cxnLst/>
              <a:rect l="l" t="t" r="r" b="b"/>
              <a:pathLst>
                <a:path w="83185" h="1408049">
                  <a:moveTo>
                    <a:pt x="0" y="0"/>
                  </a:moveTo>
                  <a:lnTo>
                    <a:pt x="83185" y="0"/>
                  </a:lnTo>
                  <a:lnTo>
                    <a:pt x="83185" y="1408049"/>
                  </a:lnTo>
                  <a:lnTo>
                    <a:pt x="0" y="1408049"/>
                  </a:lnTo>
                  <a:close/>
                </a:path>
              </a:pathLst>
            </a:custGeom>
            <a:solidFill>
              <a:srgbClr val="F5A700"/>
            </a:solidFill>
          </p:spPr>
        </p:sp>
      </p:grpSp>
      <p:grpSp>
        <p:nvGrpSpPr>
          <p:cNvPr id="9" name="Group 9"/>
          <p:cNvGrpSpPr/>
          <p:nvPr/>
        </p:nvGrpSpPr>
        <p:grpSpPr>
          <a:xfrm>
            <a:off x="2882476" y="878062"/>
            <a:ext cx="625800" cy="321600"/>
            <a:chOff x="0" y="0"/>
            <a:chExt cx="834400" cy="428800"/>
          </a:xfrm>
        </p:grpSpPr>
        <p:sp>
          <p:nvSpPr>
            <p:cNvPr id="10" name="Freeform 10"/>
            <p:cNvSpPr/>
            <p:nvPr/>
          </p:nvSpPr>
          <p:spPr>
            <a:xfrm>
              <a:off x="0" y="0"/>
              <a:ext cx="834390" cy="428752"/>
            </a:xfrm>
            <a:custGeom>
              <a:avLst/>
              <a:gdLst/>
              <a:ahLst/>
              <a:cxnLst/>
              <a:rect l="l" t="t" r="r" b="b"/>
              <a:pathLst>
                <a:path w="834390" h="428752">
                  <a:moveTo>
                    <a:pt x="0" y="0"/>
                  </a:moveTo>
                  <a:lnTo>
                    <a:pt x="575310" y="0"/>
                  </a:lnTo>
                  <a:lnTo>
                    <a:pt x="834390" y="214376"/>
                  </a:lnTo>
                  <a:lnTo>
                    <a:pt x="575310" y="428752"/>
                  </a:lnTo>
                  <a:lnTo>
                    <a:pt x="0" y="428752"/>
                  </a:lnTo>
                  <a:close/>
                </a:path>
              </a:pathLst>
            </a:custGeom>
            <a:solidFill>
              <a:srgbClr val="0033CC"/>
            </a:solidFill>
          </p:spPr>
        </p:sp>
      </p:grpSp>
      <p:grpSp>
        <p:nvGrpSpPr>
          <p:cNvPr id="11" name="Group 11"/>
          <p:cNvGrpSpPr/>
          <p:nvPr/>
        </p:nvGrpSpPr>
        <p:grpSpPr>
          <a:xfrm>
            <a:off x="5405116" y="736162"/>
            <a:ext cx="15004800" cy="605400"/>
            <a:chOff x="0" y="0"/>
            <a:chExt cx="20006400" cy="807200"/>
          </a:xfrm>
        </p:grpSpPr>
        <p:sp>
          <p:nvSpPr>
            <p:cNvPr id="12" name="Freeform 12"/>
            <p:cNvSpPr/>
            <p:nvPr/>
          </p:nvSpPr>
          <p:spPr>
            <a:xfrm>
              <a:off x="0" y="0"/>
              <a:ext cx="20006401" cy="807200"/>
            </a:xfrm>
            <a:custGeom>
              <a:avLst/>
              <a:gdLst/>
              <a:ahLst/>
              <a:cxnLst/>
              <a:rect l="l" t="t" r="r" b="b"/>
              <a:pathLst>
                <a:path w="20006401" h="807200">
                  <a:moveTo>
                    <a:pt x="0" y="0"/>
                  </a:moveTo>
                  <a:lnTo>
                    <a:pt x="20006401" y="0"/>
                  </a:lnTo>
                  <a:lnTo>
                    <a:pt x="20006401" y="807200"/>
                  </a:lnTo>
                  <a:lnTo>
                    <a:pt x="0" y="807200"/>
                  </a:lnTo>
                  <a:close/>
                </a:path>
              </a:pathLst>
            </a:custGeom>
            <a:solidFill>
              <a:srgbClr val="000000">
                <a:alpha val="0"/>
              </a:srgbClr>
            </a:solidFill>
          </p:spPr>
        </p:sp>
        <p:sp>
          <p:nvSpPr>
            <p:cNvPr id="13" name="TextBox 13"/>
            <p:cNvSpPr txBox="1"/>
            <p:nvPr/>
          </p:nvSpPr>
          <p:spPr>
            <a:xfrm>
              <a:off x="0" y="19050"/>
              <a:ext cx="20006400" cy="788150"/>
            </a:xfrm>
            <a:prstGeom prst="rect">
              <a:avLst/>
            </a:prstGeom>
          </p:spPr>
          <p:txBody>
            <a:bodyPr lIns="0" tIns="0" rIns="0" bIns="0" rtlCol="0" anchor="ctr"/>
            <a:lstStyle/>
            <a:p>
              <a:pPr algn="l">
                <a:lnSpc>
                  <a:spcPts val="3304"/>
                </a:lnSpc>
              </a:pPr>
              <a:endParaRPr/>
            </a:p>
          </p:txBody>
        </p:sp>
      </p:grpSp>
      <p:sp>
        <p:nvSpPr>
          <p:cNvPr id="14" name="TextBox 14"/>
          <p:cNvSpPr txBox="1"/>
          <p:nvPr/>
        </p:nvSpPr>
        <p:spPr>
          <a:xfrm>
            <a:off x="688385" y="1727575"/>
            <a:ext cx="16237840" cy="5382768"/>
          </a:xfrm>
          <a:prstGeom prst="rect">
            <a:avLst/>
          </a:prstGeom>
        </p:spPr>
        <p:txBody>
          <a:bodyPr lIns="0" tIns="0" rIns="0" bIns="0" rtlCol="0" anchor="t">
            <a:spAutoFit/>
          </a:bodyPr>
          <a:lstStyle/>
          <a:p>
            <a:pPr marL="868680" lvl="1" indent="-434340" algn="l">
              <a:lnSpc>
                <a:spcPts val="4752"/>
              </a:lnSpc>
              <a:buFont typeface="Arial"/>
              <a:buChar char="•"/>
            </a:pPr>
            <a:r>
              <a:rPr lang="en-US" sz="3600" b="1">
                <a:solidFill>
                  <a:srgbClr val="000000"/>
                </a:solidFill>
                <a:latin typeface="Times New Roman Bold"/>
                <a:ea typeface="Times New Roman Bold"/>
                <a:cs typeface="Times New Roman Bold"/>
                <a:sym typeface="Times New Roman Bold"/>
              </a:rPr>
              <a:t>Test Case</a:t>
            </a:r>
            <a:r>
              <a:rPr lang="en-US" sz="3600">
                <a:solidFill>
                  <a:srgbClr val="000000"/>
                </a:solidFill>
                <a:latin typeface="Times New Roman"/>
                <a:ea typeface="Times New Roman"/>
                <a:cs typeface="Times New Roman"/>
                <a:sym typeface="Times New Roman"/>
              </a:rPr>
              <a:t> là tập hợp các </a:t>
            </a:r>
            <a:r>
              <a:rPr lang="en-US" sz="3600" b="1">
                <a:solidFill>
                  <a:srgbClr val="000000"/>
                </a:solidFill>
                <a:latin typeface="Times New Roman Bold"/>
                <a:ea typeface="Times New Roman Bold"/>
                <a:cs typeface="Times New Roman Bold"/>
                <a:sym typeface="Times New Roman Bold"/>
              </a:rPr>
              <a:t>bước kiểm thử cụ thể</a:t>
            </a:r>
            <a:r>
              <a:rPr lang="en-US" sz="3600">
                <a:solidFill>
                  <a:srgbClr val="000000"/>
                </a:solidFill>
                <a:latin typeface="Times New Roman"/>
                <a:ea typeface="Times New Roman"/>
                <a:cs typeface="Times New Roman"/>
                <a:sym typeface="Times New Roman"/>
              </a:rPr>
              <a:t> được thiết kế để </a:t>
            </a:r>
            <a:r>
              <a:rPr lang="en-US" sz="3600" b="1">
                <a:solidFill>
                  <a:srgbClr val="000000"/>
                </a:solidFill>
                <a:latin typeface="Times New Roman Bold"/>
                <a:ea typeface="Times New Roman Bold"/>
                <a:cs typeface="Times New Roman Bold"/>
                <a:sym typeface="Times New Roman Bold"/>
              </a:rPr>
              <a:t>xác minh một chức năng</a:t>
            </a:r>
            <a:r>
              <a:rPr lang="en-US" sz="3600">
                <a:solidFill>
                  <a:srgbClr val="000000"/>
                </a:solidFill>
                <a:latin typeface="Times New Roman"/>
                <a:ea typeface="Times New Roman"/>
                <a:cs typeface="Times New Roman"/>
                <a:sym typeface="Times New Roman"/>
              </a:rPr>
              <a:t> của phần mềm hoạt động đúng như yêu cầu.</a:t>
            </a:r>
          </a:p>
          <a:p>
            <a:pPr marL="868680" lvl="1" indent="-434340" algn="l">
              <a:lnSpc>
                <a:spcPts val="4752"/>
              </a:lnSpc>
              <a:buFont typeface="Arial"/>
              <a:buChar char="•"/>
            </a:pPr>
            <a:r>
              <a:rPr lang="en-US" sz="3600">
                <a:solidFill>
                  <a:srgbClr val="000000"/>
                </a:solidFill>
                <a:latin typeface="Times New Roman"/>
                <a:ea typeface="Times New Roman"/>
                <a:cs typeface="Times New Roman"/>
                <a:sym typeface="Times New Roman"/>
              </a:rPr>
              <a:t>Mỗi test case bao gồm:</a:t>
            </a:r>
          </a:p>
          <a:p>
            <a:pPr marL="868680" lvl="1" indent="-434340" algn="l">
              <a:lnSpc>
                <a:spcPts val="4752"/>
              </a:lnSpc>
              <a:buFont typeface="Arial"/>
              <a:buChar char="•"/>
            </a:pPr>
            <a:r>
              <a:rPr lang="en-US" sz="3600" b="1">
                <a:solidFill>
                  <a:srgbClr val="000000"/>
                </a:solidFill>
                <a:latin typeface="Times New Roman Bold"/>
                <a:ea typeface="Times New Roman Bold"/>
                <a:cs typeface="Times New Roman Bold"/>
                <a:sym typeface="Times New Roman Bold"/>
              </a:rPr>
              <a:t>Mã test case</a:t>
            </a:r>
          </a:p>
          <a:p>
            <a:pPr marL="868680" lvl="1" indent="-434340" algn="l">
              <a:lnSpc>
                <a:spcPts val="4752"/>
              </a:lnSpc>
              <a:buFont typeface="Arial"/>
              <a:buChar char="•"/>
            </a:pPr>
            <a:r>
              <a:rPr lang="en-US" sz="3600" b="1">
                <a:solidFill>
                  <a:srgbClr val="000000"/>
                </a:solidFill>
                <a:latin typeface="Times New Roman Bold"/>
                <a:ea typeface="Times New Roman Bold"/>
                <a:cs typeface="Times New Roman Bold"/>
                <a:sym typeface="Times New Roman Bold"/>
              </a:rPr>
              <a:t>Mô tả mục tiêu kiểm thử</a:t>
            </a:r>
          </a:p>
          <a:p>
            <a:pPr marL="868680" lvl="1" indent="-434340" algn="l">
              <a:lnSpc>
                <a:spcPts val="4752"/>
              </a:lnSpc>
              <a:buFont typeface="Arial"/>
              <a:buChar char="•"/>
            </a:pPr>
            <a:r>
              <a:rPr lang="en-US" sz="3600" b="1">
                <a:solidFill>
                  <a:srgbClr val="000000"/>
                </a:solidFill>
                <a:latin typeface="Times New Roman Bold"/>
                <a:ea typeface="Times New Roman Bold"/>
                <a:cs typeface="Times New Roman Bold"/>
                <a:sym typeface="Times New Roman Bold"/>
              </a:rPr>
              <a:t>Điều kiện đầu vào</a:t>
            </a:r>
          </a:p>
          <a:p>
            <a:pPr marL="868680" lvl="1" indent="-434340" algn="l">
              <a:lnSpc>
                <a:spcPts val="4752"/>
              </a:lnSpc>
              <a:buFont typeface="Arial"/>
              <a:buChar char="•"/>
            </a:pPr>
            <a:r>
              <a:rPr lang="en-US" sz="3600" b="1">
                <a:solidFill>
                  <a:srgbClr val="000000"/>
                </a:solidFill>
                <a:latin typeface="Times New Roman Bold"/>
                <a:ea typeface="Times New Roman Bold"/>
                <a:cs typeface="Times New Roman Bold"/>
                <a:sym typeface="Times New Roman Bold"/>
              </a:rPr>
              <a:t>Bước thực hiện</a:t>
            </a:r>
          </a:p>
          <a:p>
            <a:pPr marL="868680" lvl="1" indent="-434340" algn="l">
              <a:lnSpc>
                <a:spcPts val="4752"/>
              </a:lnSpc>
              <a:buFont typeface="Arial"/>
              <a:buChar char="•"/>
            </a:pPr>
            <a:r>
              <a:rPr lang="en-US" sz="3600" b="1">
                <a:solidFill>
                  <a:srgbClr val="000000"/>
                </a:solidFill>
                <a:latin typeface="Times New Roman Bold"/>
                <a:ea typeface="Times New Roman Bold"/>
                <a:cs typeface="Times New Roman Bold"/>
                <a:sym typeface="Times New Roman Bold"/>
              </a:rPr>
              <a:t>Kết quả mong đợi &amp; kết quả thực tế</a:t>
            </a:r>
          </a:p>
          <a:p>
            <a:pPr marL="868680" lvl="1" indent="-434340" algn="l">
              <a:lnSpc>
                <a:spcPts val="4320"/>
              </a:lnSpc>
            </a:pPr>
            <a:endParaRPr lang="en-US" sz="3600" b="1">
              <a:solidFill>
                <a:srgbClr val="000000"/>
              </a:solidFill>
              <a:latin typeface="Times New Roman Bold"/>
              <a:ea typeface="Times New Roman Bold"/>
              <a:cs typeface="Times New Roman Bold"/>
              <a:sym typeface="Times New Roman Bold"/>
            </a:endParaRPr>
          </a:p>
        </p:txBody>
      </p:sp>
      <p:grpSp>
        <p:nvGrpSpPr>
          <p:cNvPr id="15" name="Group 15"/>
          <p:cNvGrpSpPr/>
          <p:nvPr/>
        </p:nvGrpSpPr>
        <p:grpSpPr>
          <a:xfrm>
            <a:off x="3660676" y="736162"/>
            <a:ext cx="1864729" cy="650279"/>
            <a:chOff x="0" y="0"/>
            <a:chExt cx="2486305" cy="867038"/>
          </a:xfrm>
        </p:grpSpPr>
        <p:sp>
          <p:nvSpPr>
            <p:cNvPr id="16" name="Freeform 16"/>
            <p:cNvSpPr/>
            <p:nvPr/>
          </p:nvSpPr>
          <p:spPr>
            <a:xfrm>
              <a:off x="0" y="0"/>
              <a:ext cx="2486305" cy="867038"/>
            </a:xfrm>
            <a:custGeom>
              <a:avLst/>
              <a:gdLst/>
              <a:ahLst/>
              <a:cxnLst/>
              <a:rect l="l" t="t" r="r" b="b"/>
              <a:pathLst>
                <a:path w="2486305" h="867038">
                  <a:moveTo>
                    <a:pt x="0" y="0"/>
                  </a:moveTo>
                  <a:lnTo>
                    <a:pt x="2486305" y="0"/>
                  </a:lnTo>
                  <a:lnTo>
                    <a:pt x="2486305" y="867038"/>
                  </a:lnTo>
                  <a:lnTo>
                    <a:pt x="0" y="867038"/>
                  </a:lnTo>
                  <a:close/>
                </a:path>
              </a:pathLst>
            </a:custGeom>
            <a:solidFill>
              <a:srgbClr val="000000">
                <a:alpha val="0"/>
              </a:srgbClr>
            </a:solidFill>
          </p:spPr>
        </p:sp>
        <p:sp>
          <p:nvSpPr>
            <p:cNvPr id="17" name="TextBox 17"/>
            <p:cNvSpPr txBox="1"/>
            <p:nvPr/>
          </p:nvSpPr>
          <p:spPr>
            <a:xfrm>
              <a:off x="0" y="28575"/>
              <a:ext cx="2486305" cy="838463"/>
            </a:xfrm>
            <a:prstGeom prst="rect">
              <a:avLst/>
            </a:prstGeom>
          </p:spPr>
          <p:txBody>
            <a:bodyPr lIns="0" tIns="0" rIns="0" bIns="0" rtlCol="0" anchor="ctr"/>
            <a:lstStyle/>
            <a:p>
              <a:pPr algn="l">
                <a:lnSpc>
                  <a:spcPts val="3672"/>
                </a:lnSpc>
              </a:pPr>
              <a:r>
                <a:rPr lang="en-US" sz="3400">
                  <a:solidFill>
                    <a:srgbClr val="FF9900"/>
                  </a:solidFill>
                  <a:latin typeface="Roboto"/>
                  <a:ea typeface="Roboto"/>
                  <a:cs typeface="Roboto"/>
                  <a:sym typeface="Roboto"/>
                </a:rPr>
                <a:t>Giới thiệu </a:t>
              </a: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sp>
      <p:grpSp>
        <p:nvGrpSpPr>
          <p:cNvPr id="3" name="Group 3"/>
          <p:cNvGrpSpPr>
            <a:grpSpLocks noChangeAspect="1"/>
          </p:cNvGrpSpPr>
          <p:nvPr/>
        </p:nvGrpSpPr>
        <p:grpSpPr>
          <a:xfrm>
            <a:off x="155352" y="-409644"/>
            <a:ext cx="2203894" cy="2203894"/>
            <a:chOff x="0" y="0"/>
            <a:chExt cx="2938525" cy="2938525"/>
          </a:xfrm>
        </p:grpSpPr>
        <p:sp>
          <p:nvSpPr>
            <p:cNvPr id="4" name="Freeform 4"/>
            <p:cNvSpPr/>
            <p:nvPr/>
          </p:nvSpPr>
          <p:spPr>
            <a:xfrm>
              <a:off x="0" y="0"/>
              <a:ext cx="2938526" cy="2938526"/>
            </a:xfrm>
            <a:custGeom>
              <a:avLst/>
              <a:gdLst/>
              <a:ahLst/>
              <a:cxnLst/>
              <a:rect l="l" t="t" r="r" b="b"/>
              <a:pathLst>
                <a:path w="2938526" h="2938526">
                  <a:moveTo>
                    <a:pt x="0" y="0"/>
                  </a:moveTo>
                  <a:lnTo>
                    <a:pt x="2938526" y="0"/>
                  </a:lnTo>
                  <a:lnTo>
                    <a:pt x="2938526" y="2938526"/>
                  </a:lnTo>
                  <a:lnTo>
                    <a:pt x="0" y="2938526"/>
                  </a:lnTo>
                  <a:lnTo>
                    <a:pt x="0" y="0"/>
                  </a:lnTo>
                  <a:close/>
                </a:path>
              </a:pathLst>
            </a:custGeom>
            <a:blipFill>
              <a:blip r:embed="rId4"/>
              <a:stretch>
                <a:fillRect/>
              </a:stretch>
            </a:blipFill>
          </p:spPr>
        </p:sp>
      </p:grpSp>
      <p:grpSp>
        <p:nvGrpSpPr>
          <p:cNvPr id="5" name="Group 5"/>
          <p:cNvGrpSpPr>
            <a:grpSpLocks noChangeAspect="1"/>
          </p:cNvGrpSpPr>
          <p:nvPr/>
        </p:nvGrpSpPr>
        <p:grpSpPr>
          <a:xfrm>
            <a:off x="15683212" y="140336"/>
            <a:ext cx="2486026" cy="1085850"/>
            <a:chOff x="0" y="0"/>
            <a:chExt cx="3314701" cy="1447800"/>
          </a:xfrm>
        </p:grpSpPr>
        <p:sp>
          <p:nvSpPr>
            <p:cNvPr id="6" name="Freeform 6"/>
            <p:cNvSpPr/>
            <p:nvPr/>
          </p:nvSpPr>
          <p:spPr>
            <a:xfrm>
              <a:off x="0" y="0"/>
              <a:ext cx="3314700" cy="1447800"/>
            </a:xfrm>
            <a:custGeom>
              <a:avLst/>
              <a:gdLst/>
              <a:ahLst/>
              <a:cxnLst/>
              <a:rect l="l" t="t" r="r" b="b"/>
              <a:pathLst>
                <a:path w="3314700" h="1447800">
                  <a:moveTo>
                    <a:pt x="0" y="0"/>
                  </a:moveTo>
                  <a:lnTo>
                    <a:pt x="3314700" y="0"/>
                  </a:lnTo>
                  <a:lnTo>
                    <a:pt x="3314700" y="1447800"/>
                  </a:lnTo>
                  <a:lnTo>
                    <a:pt x="0" y="1447800"/>
                  </a:lnTo>
                  <a:lnTo>
                    <a:pt x="0" y="0"/>
                  </a:lnTo>
                  <a:close/>
                </a:path>
              </a:pathLst>
            </a:custGeom>
            <a:blipFill>
              <a:blip r:embed="rId5"/>
              <a:stretch>
                <a:fillRect/>
              </a:stretch>
            </a:blipFill>
          </p:spPr>
        </p:sp>
      </p:grpSp>
      <p:grpSp>
        <p:nvGrpSpPr>
          <p:cNvPr id="7" name="Group 7"/>
          <p:cNvGrpSpPr/>
          <p:nvPr/>
        </p:nvGrpSpPr>
        <p:grpSpPr>
          <a:xfrm>
            <a:off x="2670196" y="143026"/>
            <a:ext cx="62400" cy="1056000"/>
            <a:chOff x="0" y="0"/>
            <a:chExt cx="83200" cy="1408000"/>
          </a:xfrm>
        </p:grpSpPr>
        <p:sp>
          <p:nvSpPr>
            <p:cNvPr id="8" name="Freeform 8"/>
            <p:cNvSpPr/>
            <p:nvPr/>
          </p:nvSpPr>
          <p:spPr>
            <a:xfrm>
              <a:off x="0" y="0"/>
              <a:ext cx="83185" cy="1408049"/>
            </a:xfrm>
            <a:custGeom>
              <a:avLst/>
              <a:gdLst/>
              <a:ahLst/>
              <a:cxnLst/>
              <a:rect l="l" t="t" r="r" b="b"/>
              <a:pathLst>
                <a:path w="83185" h="1408049">
                  <a:moveTo>
                    <a:pt x="0" y="0"/>
                  </a:moveTo>
                  <a:lnTo>
                    <a:pt x="83185" y="0"/>
                  </a:lnTo>
                  <a:lnTo>
                    <a:pt x="83185" y="1408049"/>
                  </a:lnTo>
                  <a:lnTo>
                    <a:pt x="0" y="1408049"/>
                  </a:lnTo>
                  <a:close/>
                </a:path>
              </a:pathLst>
            </a:custGeom>
            <a:solidFill>
              <a:srgbClr val="F5A700"/>
            </a:solidFill>
          </p:spPr>
        </p:sp>
      </p:grpSp>
      <p:grpSp>
        <p:nvGrpSpPr>
          <p:cNvPr id="9" name="Group 9"/>
          <p:cNvGrpSpPr/>
          <p:nvPr/>
        </p:nvGrpSpPr>
        <p:grpSpPr>
          <a:xfrm>
            <a:off x="2882476" y="878062"/>
            <a:ext cx="625800" cy="321600"/>
            <a:chOff x="0" y="0"/>
            <a:chExt cx="834400" cy="428800"/>
          </a:xfrm>
        </p:grpSpPr>
        <p:sp>
          <p:nvSpPr>
            <p:cNvPr id="10" name="Freeform 10"/>
            <p:cNvSpPr/>
            <p:nvPr/>
          </p:nvSpPr>
          <p:spPr>
            <a:xfrm>
              <a:off x="0" y="0"/>
              <a:ext cx="834390" cy="428752"/>
            </a:xfrm>
            <a:custGeom>
              <a:avLst/>
              <a:gdLst/>
              <a:ahLst/>
              <a:cxnLst/>
              <a:rect l="l" t="t" r="r" b="b"/>
              <a:pathLst>
                <a:path w="834390" h="428752">
                  <a:moveTo>
                    <a:pt x="0" y="0"/>
                  </a:moveTo>
                  <a:lnTo>
                    <a:pt x="575310" y="0"/>
                  </a:lnTo>
                  <a:lnTo>
                    <a:pt x="834390" y="214376"/>
                  </a:lnTo>
                  <a:lnTo>
                    <a:pt x="575310" y="428752"/>
                  </a:lnTo>
                  <a:lnTo>
                    <a:pt x="0" y="428752"/>
                  </a:lnTo>
                  <a:close/>
                </a:path>
              </a:pathLst>
            </a:custGeom>
            <a:solidFill>
              <a:srgbClr val="0033CC"/>
            </a:solidFill>
          </p:spPr>
        </p:sp>
      </p:grpSp>
      <p:grpSp>
        <p:nvGrpSpPr>
          <p:cNvPr id="11" name="Group 11"/>
          <p:cNvGrpSpPr/>
          <p:nvPr/>
        </p:nvGrpSpPr>
        <p:grpSpPr>
          <a:xfrm>
            <a:off x="3660676" y="748426"/>
            <a:ext cx="12291000" cy="605400"/>
            <a:chOff x="0" y="0"/>
            <a:chExt cx="16388000" cy="807200"/>
          </a:xfrm>
        </p:grpSpPr>
        <p:sp>
          <p:nvSpPr>
            <p:cNvPr id="12" name="Freeform 12"/>
            <p:cNvSpPr/>
            <p:nvPr/>
          </p:nvSpPr>
          <p:spPr>
            <a:xfrm>
              <a:off x="0" y="0"/>
              <a:ext cx="16388000" cy="807200"/>
            </a:xfrm>
            <a:custGeom>
              <a:avLst/>
              <a:gdLst/>
              <a:ahLst/>
              <a:cxnLst/>
              <a:rect l="l" t="t" r="r" b="b"/>
              <a:pathLst>
                <a:path w="16388000" h="807200">
                  <a:moveTo>
                    <a:pt x="0" y="0"/>
                  </a:moveTo>
                  <a:lnTo>
                    <a:pt x="16388000" y="0"/>
                  </a:lnTo>
                  <a:lnTo>
                    <a:pt x="16388000" y="807200"/>
                  </a:lnTo>
                  <a:lnTo>
                    <a:pt x="0" y="807200"/>
                  </a:lnTo>
                  <a:close/>
                </a:path>
              </a:pathLst>
            </a:custGeom>
            <a:solidFill>
              <a:srgbClr val="000000">
                <a:alpha val="0"/>
              </a:srgbClr>
            </a:solidFill>
          </p:spPr>
        </p:sp>
        <p:sp>
          <p:nvSpPr>
            <p:cNvPr id="13" name="TextBox 13"/>
            <p:cNvSpPr txBox="1"/>
            <p:nvPr/>
          </p:nvSpPr>
          <p:spPr>
            <a:xfrm>
              <a:off x="0" y="28575"/>
              <a:ext cx="16388000" cy="778625"/>
            </a:xfrm>
            <a:prstGeom prst="rect">
              <a:avLst/>
            </a:prstGeom>
          </p:spPr>
          <p:txBody>
            <a:bodyPr lIns="0" tIns="0" rIns="0" bIns="0" rtlCol="0" anchor="ctr"/>
            <a:lstStyle/>
            <a:p>
              <a:pPr algn="l">
                <a:lnSpc>
                  <a:spcPts val="3672"/>
                </a:lnSpc>
              </a:pPr>
              <a:r>
                <a:rPr lang="en-US" sz="3400">
                  <a:solidFill>
                    <a:srgbClr val="FF9900"/>
                  </a:solidFill>
                  <a:latin typeface="Roboto"/>
                  <a:ea typeface="Roboto"/>
                  <a:cs typeface="Roboto"/>
                  <a:sym typeface="Roboto"/>
                </a:rPr>
                <a:t>Một số test case của dự án</a:t>
              </a:r>
            </a:p>
          </p:txBody>
        </p:sp>
      </p:grpSp>
      <p:sp>
        <p:nvSpPr>
          <p:cNvPr id="14" name="Freeform 14"/>
          <p:cNvSpPr/>
          <p:nvPr/>
        </p:nvSpPr>
        <p:spPr>
          <a:xfrm>
            <a:off x="550369" y="1794250"/>
            <a:ext cx="17434769" cy="3813856"/>
          </a:xfrm>
          <a:custGeom>
            <a:avLst/>
            <a:gdLst/>
            <a:ahLst/>
            <a:cxnLst/>
            <a:rect l="l" t="t" r="r" b="b"/>
            <a:pathLst>
              <a:path w="17434769" h="3813856">
                <a:moveTo>
                  <a:pt x="0" y="0"/>
                </a:moveTo>
                <a:lnTo>
                  <a:pt x="17434770" y="0"/>
                </a:lnTo>
                <a:lnTo>
                  <a:pt x="17434770" y="3813856"/>
                </a:lnTo>
                <a:lnTo>
                  <a:pt x="0" y="3813856"/>
                </a:lnTo>
                <a:lnTo>
                  <a:pt x="0" y="0"/>
                </a:lnTo>
                <a:close/>
              </a:path>
            </a:pathLst>
          </a:custGeom>
          <a:blipFill>
            <a:blip r:embed="rId6"/>
            <a:stretch>
              <a:fillRect/>
            </a:stretch>
          </a:blipFill>
        </p:spPr>
      </p:sp>
      <p:sp>
        <p:nvSpPr>
          <p:cNvPr id="15" name="Freeform 15"/>
          <p:cNvSpPr/>
          <p:nvPr/>
        </p:nvSpPr>
        <p:spPr>
          <a:xfrm>
            <a:off x="550369" y="5492616"/>
            <a:ext cx="17865520" cy="4019742"/>
          </a:xfrm>
          <a:custGeom>
            <a:avLst/>
            <a:gdLst/>
            <a:ahLst/>
            <a:cxnLst/>
            <a:rect l="l" t="t" r="r" b="b"/>
            <a:pathLst>
              <a:path w="17865520" h="4019742">
                <a:moveTo>
                  <a:pt x="0" y="0"/>
                </a:moveTo>
                <a:lnTo>
                  <a:pt x="17865520" y="0"/>
                </a:lnTo>
                <a:lnTo>
                  <a:pt x="17865520" y="4019742"/>
                </a:lnTo>
                <a:lnTo>
                  <a:pt x="0" y="4019742"/>
                </a:lnTo>
                <a:lnTo>
                  <a:pt x="0" y="0"/>
                </a:lnTo>
                <a:close/>
              </a:path>
            </a:pathLst>
          </a:custGeom>
          <a:blipFill>
            <a:blip r:embed="rId7"/>
            <a:stretch>
              <a:fillRect/>
            </a:stretch>
          </a:blipFill>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sp>
      <p:grpSp>
        <p:nvGrpSpPr>
          <p:cNvPr id="3" name="Group 3"/>
          <p:cNvGrpSpPr>
            <a:grpSpLocks noChangeAspect="1"/>
          </p:cNvGrpSpPr>
          <p:nvPr/>
        </p:nvGrpSpPr>
        <p:grpSpPr>
          <a:xfrm>
            <a:off x="155352" y="-409644"/>
            <a:ext cx="2203894" cy="2203894"/>
            <a:chOff x="0" y="0"/>
            <a:chExt cx="2938525" cy="2938525"/>
          </a:xfrm>
        </p:grpSpPr>
        <p:sp>
          <p:nvSpPr>
            <p:cNvPr id="4" name="Freeform 4"/>
            <p:cNvSpPr/>
            <p:nvPr/>
          </p:nvSpPr>
          <p:spPr>
            <a:xfrm>
              <a:off x="0" y="0"/>
              <a:ext cx="2938526" cy="2938526"/>
            </a:xfrm>
            <a:custGeom>
              <a:avLst/>
              <a:gdLst/>
              <a:ahLst/>
              <a:cxnLst/>
              <a:rect l="l" t="t" r="r" b="b"/>
              <a:pathLst>
                <a:path w="2938526" h="2938526">
                  <a:moveTo>
                    <a:pt x="0" y="0"/>
                  </a:moveTo>
                  <a:lnTo>
                    <a:pt x="2938526" y="0"/>
                  </a:lnTo>
                  <a:lnTo>
                    <a:pt x="2938526" y="2938526"/>
                  </a:lnTo>
                  <a:lnTo>
                    <a:pt x="0" y="2938526"/>
                  </a:lnTo>
                  <a:lnTo>
                    <a:pt x="0" y="0"/>
                  </a:lnTo>
                  <a:close/>
                </a:path>
              </a:pathLst>
            </a:custGeom>
            <a:blipFill>
              <a:blip r:embed="rId4"/>
              <a:stretch>
                <a:fillRect/>
              </a:stretch>
            </a:blipFill>
          </p:spPr>
        </p:sp>
      </p:grpSp>
      <p:grpSp>
        <p:nvGrpSpPr>
          <p:cNvPr id="5" name="Group 5"/>
          <p:cNvGrpSpPr>
            <a:grpSpLocks noChangeAspect="1"/>
          </p:cNvGrpSpPr>
          <p:nvPr/>
        </p:nvGrpSpPr>
        <p:grpSpPr>
          <a:xfrm>
            <a:off x="15683212" y="140336"/>
            <a:ext cx="2486026" cy="1085850"/>
            <a:chOff x="0" y="0"/>
            <a:chExt cx="3314701" cy="1447800"/>
          </a:xfrm>
        </p:grpSpPr>
        <p:sp>
          <p:nvSpPr>
            <p:cNvPr id="6" name="Freeform 6"/>
            <p:cNvSpPr/>
            <p:nvPr/>
          </p:nvSpPr>
          <p:spPr>
            <a:xfrm>
              <a:off x="0" y="0"/>
              <a:ext cx="3314700" cy="1447800"/>
            </a:xfrm>
            <a:custGeom>
              <a:avLst/>
              <a:gdLst/>
              <a:ahLst/>
              <a:cxnLst/>
              <a:rect l="l" t="t" r="r" b="b"/>
              <a:pathLst>
                <a:path w="3314700" h="1447800">
                  <a:moveTo>
                    <a:pt x="0" y="0"/>
                  </a:moveTo>
                  <a:lnTo>
                    <a:pt x="3314700" y="0"/>
                  </a:lnTo>
                  <a:lnTo>
                    <a:pt x="3314700" y="1447800"/>
                  </a:lnTo>
                  <a:lnTo>
                    <a:pt x="0" y="1447800"/>
                  </a:lnTo>
                  <a:lnTo>
                    <a:pt x="0" y="0"/>
                  </a:lnTo>
                  <a:close/>
                </a:path>
              </a:pathLst>
            </a:custGeom>
            <a:blipFill>
              <a:blip r:embed="rId5"/>
              <a:stretch>
                <a:fillRect/>
              </a:stretch>
            </a:blipFill>
          </p:spPr>
        </p:sp>
      </p:grpSp>
      <p:grpSp>
        <p:nvGrpSpPr>
          <p:cNvPr id="7" name="Group 7"/>
          <p:cNvGrpSpPr/>
          <p:nvPr/>
        </p:nvGrpSpPr>
        <p:grpSpPr>
          <a:xfrm>
            <a:off x="2670196" y="143026"/>
            <a:ext cx="62400" cy="1056000"/>
            <a:chOff x="0" y="0"/>
            <a:chExt cx="83200" cy="1408000"/>
          </a:xfrm>
        </p:grpSpPr>
        <p:sp>
          <p:nvSpPr>
            <p:cNvPr id="8" name="Freeform 8"/>
            <p:cNvSpPr/>
            <p:nvPr/>
          </p:nvSpPr>
          <p:spPr>
            <a:xfrm>
              <a:off x="0" y="0"/>
              <a:ext cx="83185" cy="1408049"/>
            </a:xfrm>
            <a:custGeom>
              <a:avLst/>
              <a:gdLst/>
              <a:ahLst/>
              <a:cxnLst/>
              <a:rect l="l" t="t" r="r" b="b"/>
              <a:pathLst>
                <a:path w="83185" h="1408049">
                  <a:moveTo>
                    <a:pt x="0" y="0"/>
                  </a:moveTo>
                  <a:lnTo>
                    <a:pt x="83185" y="0"/>
                  </a:lnTo>
                  <a:lnTo>
                    <a:pt x="83185" y="1408049"/>
                  </a:lnTo>
                  <a:lnTo>
                    <a:pt x="0" y="1408049"/>
                  </a:lnTo>
                  <a:close/>
                </a:path>
              </a:pathLst>
            </a:custGeom>
            <a:solidFill>
              <a:srgbClr val="F5A700"/>
            </a:solidFill>
          </p:spPr>
        </p:sp>
      </p:grpSp>
      <p:grpSp>
        <p:nvGrpSpPr>
          <p:cNvPr id="9" name="Group 9"/>
          <p:cNvGrpSpPr/>
          <p:nvPr/>
        </p:nvGrpSpPr>
        <p:grpSpPr>
          <a:xfrm>
            <a:off x="2882476" y="878062"/>
            <a:ext cx="625800" cy="321600"/>
            <a:chOff x="0" y="0"/>
            <a:chExt cx="834400" cy="428800"/>
          </a:xfrm>
        </p:grpSpPr>
        <p:sp>
          <p:nvSpPr>
            <p:cNvPr id="10" name="Freeform 10"/>
            <p:cNvSpPr/>
            <p:nvPr/>
          </p:nvSpPr>
          <p:spPr>
            <a:xfrm>
              <a:off x="0" y="0"/>
              <a:ext cx="834390" cy="428752"/>
            </a:xfrm>
            <a:custGeom>
              <a:avLst/>
              <a:gdLst/>
              <a:ahLst/>
              <a:cxnLst/>
              <a:rect l="l" t="t" r="r" b="b"/>
              <a:pathLst>
                <a:path w="834390" h="428752">
                  <a:moveTo>
                    <a:pt x="0" y="0"/>
                  </a:moveTo>
                  <a:lnTo>
                    <a:pt x="575310" y="0"/>
                  </a:lnTo>
                  <a:lnTo>
                    <a:pt x="834390" y="214376"/>
                  </a:lnTo>
                  <a:lnTo>
                    <a:pt x="575310" y="428752"/>
                  </a:lnTo>
                  <a:lnTo>
                    <a:pt x="0" y="428752"/>
                  </a:lnTo>
                  <a:close/>
                </a:path>
              </a:pathLst>
            </a:custGeom>
            <a:solidFill>
              <a:srgbClr val="0033CC"/>
            </a:solidFill>
          </p:spPr>
        </p:sp>
      </p:grpSp>
      <p:grpSp>
        <p:nvGrpSpPr>
          <p:cNvPr id="11" name="Group 11"/>
          <p:cNvGrpSpPr/>
          <p:nvPr/>
        </p:nvGrpSpPr>
        <p:grpSpPr>
          <a:xfrm>
            <a:off x="3660676" y="143026"/>
            <a:ext cx="15004800" cy="605400"/>
            <a:chOff x="0" y="0"/>
            <a:chExt cx="20006400" cy="807200"/>
          </a:xfrm>
        </p:grpSpPr>
        <p:sp>
          <p:nvSpPr>
            <p:cNvPr id="12" name="Freeform 12"/>
            <p:cNvSpPr/>
            <p:nvPr/>
          </p:nvSpPr>
          <p:spPr>
            <a:xfrm>
              <a:off x="0" y="0"/>
              <a:ext cx="20006401" cy="807200"/>
            </a:xfrm>
            <a:custGeom>
              <a:avLst/>
              <a:gdLst/>
              <a:ahLst/>
              <a:cxnLst/>
              <a:rect l="l" t="t" r="r" b="b"/>
              <a:pathLst>
                <a:path w="20006401" h="807200">
                  <a:moveTo>
                    <a:pt x="0" y="0"/>
                  </a:moveTo>
                  <a:lnTo>
                    <a:pt x="20006401" y="0"/>
                  </a:lnTo>
                  <a:lnTo>
                    <a:pt x="20006401" y="807200"/>
                  </a:lnTo>
                  <a:lnTo>
                    <a:pt x="0" y="807200"/>
                  </a:lnTo>
                  <a:close/>
                </a:path>
              </a:pathLst>
            </a:custGeom>
            <a:solidFill>
              <a:srgbClr val="000000">
                <a:alpha val="0"/>
              </a:srgbClr>
            </a:solidFill>
          </p:spPr>
        </p:sp>
        <p:sp>
          <p:nvSpPr>
            <p:cNvPr id="13" name="TextBox 13"/>
            <p:cNvSpPr txBox="1"/>
            <p:nvPr/>
          </p:nvSpPr>
          <p:spPr>
            <a:xfrm>
              <a:off x="0" y="-76200"/>
              <a:ext cx="20006400" cy="883400"/>
            </a:xfrm>
            <a:prstGeom prst="rect">
              <a:avLst/>
            </a:prstGeom>
          </p:spPr>
          <p:txBody>
            <a:bodyPr lIns="0" tIns="0" rIns="0" bIns="0" rtlCol="0" anchor="ctr"/>
            <a:lstStyle/>
            <a:p>
              <a:pPr algn="l">
                <a:lnSpc>
                  <a:spcPts val="4471"/>
                </a:lnSpc>
              </a:pPr>
              <a:r>
                <a:rPr lang="en-US" sz="3240" b="1">
                  <a:solidFill>
                    <a:srgbClr val="FF9900"/>
                  </a:solidFill>
                  <a:latin typeface="Arial Bold"/>
                  <a:ea typeface="Arial Bold"/>
                  <a:cs typeface="Arial Bold"/>
                  <a:sym typeface="Arial Bold"/>
                </a:rPr>
                <a:t>Test Report</a:t>
              </a:r>
            </a:p>
          </p:txBody>
        </p:sp>
      </p:grpSp>
      <p:grpSp>
        <p:nvGrpSpPr>
          <p:cNvPr id="14" name="Group 14"/>
          <p:cNvGrpSpPr/>
          <p:nvPr/>
        </p:nvGrpSpPr>
        <p:grpSpPr>
          <a:xfrm>
            <a:off x="3660676" y="748426"/>
            <a:ext cx="12291000" cy="650279"/>
            <a:chOff x="0" y="0"/>
            <a:chExt cx="16388000" cy="867038"/>
          </a:xfrm>
        </p:grpSpPr>
        <p:sp>
          <p:nvSpPr>
            <p:cNvPr id="15" name="Freeform 15"/>
            <p:cNvSpPr/>
            <p:nvPr/>
          </p:nvSpPr>
          <p:spPr>
            <a:xfrm>
              <a:off x="0" y="0"/>
              <a:ext cx="16388000" cy="867038"/>
            </a:xfrm>
            <a:custGeom>
              <a:avLst/>
              <a:gdLst/>
              <a:ahLst/>
              <a:cxnLst/>
              <a:rect l="l" t="t" r="r" b="b"/>
              <a:pathLst>
                <a:path w="16388000" h="867038">
                  <a:moveTo>
                    <a:pt x="0" y="0"/>
                  </a:moveTo>
                  <a:lnTo>
                    <a:pt x="16388000" y="0"/>
                  </a:lnTo>
                  <a:lnTo>
                    <a:pt x="16388000" y="867038"/>
                  </a:lnTo>
                  <a:lnTo>
                    <a:pt x="0" y="867038"/>
                  </a:lnTo>
                  <a:close/>
                </a:path>
              </a:pathLst>
            </a:custGeom>
            <a:solidFill>
              <a:srgbClr val="000000">
                <a:alpha val="0"/>
              </a:srgbClr>
            </a:solidFill>
          </p:spPr>
        </p:sp>
        <p:sp>
          <p:nvSpPr>
            <p:cNvPr id="16" name="TextBox 16"/>
            <p:cNvSpPr txBox="1"/>
            <p:nvPr/>
          </p:nvSpPr>
          <p:spPr>
            <a:xfrm>
              <a:off x="0" y="28575"/>
              <a:ext cx="16388000" cy="838463"/>
            </a:xfrm>
            <a:prstGeom prst="rect">
              <a:avLst/>
            </a:prstGeom>
          </p:spPr>
          <p:txBody>
            <a:bodyPr lIns="0" tIns="0" rIns="0" bIns="0" rtlCol="0" anchor="ctr"/>
            <a:lstStyle/>
            <a:p>
              <a:pPr algn="l">
                <a:lnSpc>
                  <a:spcPts val="3672"/>
                </a:lnSpc>
              </a:pPr>
              <a:r>
                <a:rPr lang="en-US" sz="3400">
                  <a:solidFill>
                    <a:srgbClr val="FF9900"/>
                  </a:solidFill>
                  <a:latin typeface="Roboto"/>
                  <a:ea typeface="Roboto"/>
                  <a:cs typeface="Roboto"/>
                  <a:sym typeface="Roboto"/>
                </a:rPr>
                <a:t>Tổng quan kết quả</a:t>
              </a:r>
            </a:p>
          </p:txBody>
        </p:sp>
      </p:grpSp>
      <p:graphicFrame>
        <p:nvGraphicFramePr>
          <p:cNvPr id="17" name="Object 17"/>
          <p:cNvGraphicFramePr/>
          <p:nvPr/>
        </p:nvGraphicFramePr>
        <p:xfrm>
          <a:off x="5825796" y="2175108"/>
          <a:ext cx="9429750" cy="1257300"/>
        </p:xfrm>
        <a:graphic>
          <a:graphicData uri="http://schemas.openxmlformats.org/presentationml/2006/ole">
            <mc:AlternateContent xmlns:mc="http://schemas.openxmlformats.org/markup-compatibility/2006">
              <mc:Choice xmlns:v="urn:schemas-microsoft-com:vml" Requires="v">
                <p:oleObj name="Worksheet" r:id="rId6" imgW="11315700" imgH="3136900" progId="Excel.Sheet.12">
                  <p:embed/>
                </p:oleObj>
              </mc:Choice>
              <mc:Fallback>
                <p:oleObj name="Worksheet" r:id="rId6" imgW="11315700" imgH="3136900" progId="Excel.Sheet.12">
                  <p:embed/>
                  <p:pic>
                    <p:nvPicPr>
                      <p:cNvPr id="0" name=""/>
                      <p:cNvPicPr/>
                      <p:nvPr/>
                    </p:nvPicPr>
                    <p:blipFill>
                      <a:blip r:embed="rId7"/>
                      <a:stretch>
                        <a:fillRect/>
                      </a:stretch>
                    </p:blipFill>
                    <p:spPr>
                      <a:xfrm>
                        <a:off x="5825796" y="2175108"/>
                        <a:ext cx="9429750" cy="1257300"/>
                      </a:xfrm>
                      <a:prstGeom prst="rect">
                        <a:avLst/>
                      </a:prstGeom>
                    </p:spPr>
                  </p:pic>
                </p:oleObj>
              </mc:Fallback>
            </mc:AlternateContent>
          </a:graphicData>
        </a:graphic>
      </p:graphicFrame>
      <p:sp>
        <p:nvSpPr>
          <p:cNvPr id="18" name="TextBox 18"/>
          <p:cNvSpPr txBox="1"/>
          <p:nvPr/>
        </p:nvSpPr>
        <p:spPr>
          <a:xfrm>
            <a:off x="-1346390" y="2108433"/>
            <a:ext cx="16782094" cy="1945947"/>
          </a:xfrm>
          <a:prstGeom prst="rect">
            <a:avLst/>
          </a:prstGeom>
        </p:spPr>
        <p:txBody>
          <a:bodyPr lIns="0" tIns="0" rIns="0" bIns="0" rtlCol="0" anchor="t">
            <a:spAutoFit/>
          </a:bodyPr>
          <a:lstStyle/>
          <a:p>
            <a:pPr algn="l">
              <a:lnSpc>
                <a:spcPts val="3861"/>
              </a:lnSpc>
            </a:pPr>
            <a:r>
              <a:rPr lang="en-US" sz="2799">
                <a:solidFill>
                  <a:srgbClr val="1B1C1D"/>
                </a:solidFill>
                <a:latin typeface="Times New Roman"/>
                <a:ea typeface="Times New Roman"/>
                <a:cs typeface="Times New Roman"/>
                <a:sym typeface="Times New Roman"/>
              </a:rPr>
              <a:t>Tổng số Test Case: 200</a:t>
            </a:r>
          </a:p>
          <a:p>
            <a:pPr algn="l">
              <a:lnSpc>
                <a:spcPts val="3861"/>
              </a:lnSpc>
            </a:pPr>
            <a:r>
              <a:rPr lang="en-US" sz="2799">
                <a:solidFill>
                  <a:srgbClr val="1B1C1D"/>
                </a:solidFill>
                <a:latin typeface="Times New Roman"/>
                <a:ea typeface="Times New Roman"/>
                <a:cs typeface="Times New Roman"/>
                <a:sym typeface="Times New Roman"/>
              </a:rPr>
              <a:t>Pass: 194</a:t>
            </a:r>
          </a:p>
          <a:p>
            <a:pPr algn="l">
              <a:lnSpc>
                <a:spcPts val="3861"/>
              </a:lnSpc>
            </a:pPr>
            <a:r>
              <a:rPr lang="en-US" sz="2799">
                <a:solidFill>
                  <a:srgbClr val="1B1C1D"/>
                </a:solidFill>
                <a:latin typeface="Times New Roman"/>
                <a:ea typeface="Times New Roman"/>
                <a:cs typeface="Times New Roman"/>
                <a:sym typeface="Times New Roman"/>
              </a:rPr>
              <a:t>Tỷ lệ pass: 97%</a:t>
            </a:r>
          </a:p>
          <a:p>
            <a:pPr marL="2504135" lvl="2" indent="-834712" algn="l">
              <a:lnSpc>
                <a:spcPts val="3863"/>
              </a:lnSpc>
            </a:pPr>
            <a:r>
              <a:rPr lang="en-US" sz="2799">
                <a:solidFill>
                  <a:srgbClr val="1B1C1D"/>
                </a:solidFill>
                <a:latin typeface="Times New Roman"/>
                <a:ea typeface="Times New Roman"/>
                <a:cs typeface="Times New Roman"/>
                <a:sym typeface="Times New Roman"/>
              </a:rPr>
              <a:t>Chức năng: 11 chức năng</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sp>
      <p:grpSp>
        <p:nvGrpSpPr>
          <p:cNvPr id="3" name="Group 3"/>
          <p:cNvGrpSpPr>
            <a:grpSpLocks noChangeAspect="1"/>
          </p:cNvGrpSpPr>
          <p:nvPr/>
        </p:nvGrpSpPr>
        <p:grpSpPr>
          <a:xfrm>
            <a:off x="155352" y="-409644"/>
            <a:ext cx="2203894" cy="2203894"/>
            <a:chOff x="0" y="0"/>
            <a:chExt cx="2938525" cy="2938525"/>
          </a:xfrm>
        </p:grpSpPr>
        <p:sp>
          <p:nvSpPr>
            <p:cNvPr id="4" name="Freeform 4"/>
            <p:cNvSpPr/>
            <p:nvPr/>
          </p:nvSpPr>
          <p:spPr>
            <a:xfrm>
              <a:off x="0" y="0"/>
              <a:ext cx="2938526" cy="2938526"/>
            </a:xfrm>
            <a:custGeom>
              <a:avLst/>
              <a:gdLst/>
              <a:ahLst/>
              <a:cxnLst/>
              <a:rect l="l" t="t" r="r" b="b"/>
              <a:pathLst>
                <a:path w="2938526" h="2938526">
                  <a:moveTo>
                    <a:pt x="0" y="0"/>
                  </a:moveTo>
                  <a:lnTo>
                    <a:pt x="2938526" y="0"/>
                  </a:lnTo>
                  <a:lnTo>
                    <a:pt x="2938526" y="2938526"/>
                  </a:lnTo>
                  <a:lnTo>
                    <a:pt x="0" y="2938526"/>
                  </a:lnTo>
                  <a:lnTo>
                    <a:pt x="0" y="0"/>
                  </a:lnTo>
                  <a:close/>
                </a:path>
              </a:pathLst>
            </a:custGeom>
            <a:blipFill>
              <a:blip r:embed="rId4"/>
              <a:stretch>
                <a:fillRect/>
              </a:stretch>
            </a:blipFill>
          </p:spPr>
        </p:sp>
      </p:grpSp>
      <p:grpSp>
        <p:nvGrpSpPr>
          <p:cNvPr id="5" name="Group 5"/>
          <p:cNvGrpSpPr>
            <a:grpSpLocks noChangeAspect="1"/>
          </p:cNvGrpSpPr>
          <p:nvPr/>
        </p:nvGrpSpPr>
        <p:grpSpPr>
          <a:xfrm>
            <a:off x="15683212" y="140336"/>
            <a:ext cx="2486026" cy="1085850"/>
            <a:chOff x="0" y="0"/>
            <a:chExt cx="3314701" cy="1447800"/>
          </a:xfrm>
        </p:grpSpPr>
        <p:sp>
          <p:nvSpPr>
            <p:cNvPr id="6" name="Freeform 6"/>
            <p:cNvSpPr/>
            <p:nvPr/>
          </p:nvSpPr>
          <p:spPr>
            <a:xfrm>
              <a:off x="0" y="0"/>
              <a:ext cx="3314700" cy="1447800"/>
            </a:xfrm>
            <a:custGeom>
              <a:avLst/>
              <a:gdLst/>
              <a:ahLst/>
              <a:cxnLst/>
              <a:rect l="l" t="t" r="r" b="b"/>
              <a:pathLst>
                <a:path w="3314700" h="1447800">
                  <a:moveTo>
                    <a:pt x="0" y="0"/>
                  </a:moveTo>
                  <a:lnTo>
                    <a:pt x="3314700" y="0"/>
                  </a:lnTo>
                  <a:lnTo>
                    <a:pt x="3314700" y="1447800"/>
                  </a:lnTo>
                  <a:lnTo>
                    <a:pt x="0" y="1447800"/>
                  </a:lnTo>
                  <a:lnTo>
                    <a:pt x="0" y="0"/>
                  </a:lnTo>
                  <a:close/>
                </a:path>
              </a:pathLst>
            </a:custGeom>
            <a:blipFill>
              <a:blip r:embed="rId5"/>
              <a:stretch>
                <a:fillRect/>
              </a:stretch>
            </a:blipFill>
          </p:spPr>
        </p:sp>
      </p:grpSp>
      <p:grpSp>
        <p:nvGrpSpPr>
          <p:cNvPr id="7" name="Group 7"/>
          <p:cNvGrpSpPr/>
          <p:nvPr/>
        </p:nvGrpSpPr>
        <p:grpSpPr>
          <a:xfrm>
            <a:off x="2670196" y="143026"/>
            <a:ext cx="62400" cy="1056000"/>
            <a:chOff x="0" y="0"/>
            <a:chExt cx="83200" cy="1408000"/>
          </a:xfrm>
        </p:grpSpPr>
        <p:sp>
          <p:nvSpPr>
            <p:cNvPr id="8" name="Freeform 8"/>
            <p:cNvSpPr/>
            <p:nvPr/>
          </p:nvSpPr>
          <p:spPr>
            <a:xfrm>
              <a:off x="0" y="0"/>
              <a:ext cx="83185" cy="1408049"/>
            </a:xfrm>
            <a:custGeom>
              <a:avLst/>
              <a:gdLst/>
              <a:ahLst/>
              <a:cxnLst/>
              <a:rect l="l" t="t" r="r" b="b"/>
              <a:pathLst>
                <a:path w="83185" h="1408049">
                  <a:moveTo>
                    <a:pt x="0" y="0"/>
                  </a:moveTo>
                  <a:lnTo>
                    <a:pt x="83185" y="0"/>
                  </a:lnTo>
                  <a:lnTo>
                    <a:pt x="83185" y="1408049"/>
                  </a:lnTo>
                  <a:lnTo>
                    <a:pt x="0" y="1408049"/>
                  </a:lnTo>
                  <a:close/>
                </a:path>
              </a:pathLst>
            </a:custGeom>
            <a:solidFill>
              <a:srgbClr val="F5A700"/>
            </a:solidFill>
          </p:spPr>
        </p:sp>
      </p:grpSp>
      <p:grpSp>
        <p:nvGrpSpPr>
          <p:cNvPr id="9" name="Group 9"/>
          <p:cNvGrpSpPr/>
          <p:nvPr/>
        </p:nvGrpSpPr>
        <p:grpSpPr>
          <a:xfrm>
            <a:off x="2882476" y="878062"/>
            <a:ext cx="625800" cy="321600"/>
            <a:chOff x="0" y="0"/>
            <a:chExt cx="834400" cy="428800"/>
          </a:xfrm>
        </p:grpSpPr>
        <p:sp>
          <p:nvSpPr>
            <p:cNvPr id="10" name="Freeform 10"/>
            <p:cNvSpPr/>
            <p:nvPr/>
          </p:nvSpPr>
          <p:spPr>
            <a:xfrm>
              <a:off x="0" y="0"/>
              <a:ext cx="834390" cy="428752"/>
            </a:xfrm>
            <a:custGeom>
              <a:avLst/>
              <a:gdLst/>
              <a:ahLst/>
              <a:cxnLst/>
              <a:rect l="l" t="t" r="r" b="b"/>
              <a:pathLst>
                <a:path w="834390" h="428752">
                  <a:moveTo>
                    <a:pt x="0" y="0"/>
                  </a:moveTo>
                  <a:lnTo>
                    <a:pt x="575310" y="0"/>
                  </a:lnTo>
                  <a:lnTo>
                    <a:pt x="834390" y="214376"/>
                  </a:lnTo>
                  <a:lnTo>
                    <a:pt x="575310" y="428752"/>
                  </a:lnTo>
                  <a:lnTo>
                    <a:pt x="0" y="428752"/>
                  </a:lnTo>
                  <a:close/>
                </a:path>
              </a:pathLst>
            </a:custGeom>
            <a:solidFill>
              <a:srgbClr val="0033CC"/>
            </a:solidFill>
          </p:spPr>
        </p:sp>
      </p:grpSp>
      <p:grpSp>
        <p:nvGrpSpPr>
          <p:cNvPr id="11" name="Group 11"/>
          <p:cNvGrpSpPr/>
          <p:nvPr/>
        </p:nvGrpSpPr>
        <p:grpSpPr>
          <a:xfrm>
            <a:off x="3822601" y="736162"/>
            <a:ext cx="12291000" cy="605400"/>
            <a:chOff x="0" y="0"/>
            <a:chExt cx="16388000" cy="807200"/>
          </a:xfrm>
        </p:grpSpPr>
        <p:sp>
          <p:nvSpPr>
            <p:cNvPr id="12" name="Freeform 12"/>
            <p:cNvSpPr/>
            <p:nvPr/>
          </p:nvSpPr>
          <p:spPr>
            <a:xfrm>
              <a:off x="0" y="0"/>
              <a:ext cx="16388000" cy="807200"/>
            </a:xfrm>
            <a:custGeom>
              <a:avLst/>
              <a:gdLst/>
              <a:ahLst/>
              <a:cxnLst/>
              <a:rect l="l" t="t" r="r" b="b"/>
              <a:pathLst>
                <a:path w="16388000" h="807200">
                  <a:moveTo>
                    <a:pt x="0" y="0"/>
                  </a:moveTo>
                  <a:lnTo>
                    <a:pt x="16388000" y="0"/>
                  </a:lnTo>
                  <a:lnTo>
                    <a:pt x="16388000" y="807200"/>
                  </a:lnTo>
                  <a:lnTo>
                    <a:pt x="0" y="807200"/>
                  </a:lnTo>
                  <a:close/>
                </a:path>
              </a:pathLst>
            </a:custGeom>
            <a:solidFill>
              <a:srgbClr val="000000">
                <a:alpha val="0"/>
              </a:srgbClr>
            </a:solidFill>
          </p:spPr>
        </p:sp>
        <p:sp>
          <p:nvSpPr>
            <p:cNvPr id="13" name="TextBox 13"/>
            <p:cNvSpPr txBox="1"/>
            <p:nvPr/>
          </p:nvSpPr>
          <p:spPr>
            <a:xfrm>
              <a:off x="0" y="28575"/>
              <a:ext cx="16388000" cy="778625"/>
            </a:xfrm>
            <a:prstGeom prst="rect">
              <a:avLst/>
            </a:prstGeom>
          </p:spPr>
          <p:txBody>
            <a:bodyPr lIns="0" tIns="0" rIns="0" bIns="0" rtlCol="0" anchor="ctr"/>
            <a:lstStyle/>
            <a:p>
              <a:pPr algn="l">
                <a:lnSpc>
                  <a:spcPts val="3672"/>
                </a:lnSpc>
              </a:pPr>
              <a:r>
                <a:rPr lang="en-US" sz="3400">
                  <a:solidFill>
                    <a:srgbClr val="FF9900"/>
                  </a:solidFill>
                  <a:latin typeface="Roboto"/>
                  <a:ea typeface="Roboto"/>
                  <a:cs typeface="Roboto"/>
                  <a:sym typeface="Roboto"/>
                </a:rPr>
                <a:t>Báo cáo Lỗi</a:t>
              </a:r>
            </a:p>
          </p:txBody>
        </p:sp>
      </p:grpSp>
      <p:graphicFrame>
        <p:nvGraphicFramePr>
          <p:cNvPr id="14" name="Object 14"/>
          <p:cNvGraphicFramePr/>
          <p:nvPr/>
        </p:nvGraphicFramePr>
        <p:xfrm>
          <a:off x="845997" y="1341562"/>
          <a:ext cx="11315700" cy="4400550"/>
        </p:xfrm>
        <a:graphic>
          <a:graphicData uri="http://schemas.openxmlformats.org/presentationml/2006/ole">
            <mc:AlternateContent xmlns:mc="http://schemas.openxmlformats.org/markup-compatibility/2006">
              <mc:Choice xmlns:v="urn:schemas-microsoft-com:vml" Requires="v">
                <p:oleObj name="Worksheet" r:id="rId6" imgW="13576300" imgH="6667500" progId="Excel.Sheet.12">
                  <p:embed/>
                </p:oleObj>
              </mc:Choice>
              <mc:Fallback>
                <p:oleObj name="Worksheet" r:id="rId6" imgW="13576300" imgH="6667500" progId="Excel.Sheet.12">
                  <p:embed/>
                  <p:pic>
                    <p:nvPicPr>
                      <p:cNvPr id="0" name=""/>
                      <p:cNvPicPr/>
                      <p:nvPr/>
                    </p:nvPicPr>
                    <p:blipFill>
                      <a:blip r:embed="rId7"/>
                      <a:stretch>
                        <a:fillRect/>
                      </a:stretch>
                    </p:blipFill>
                    <p:spPr>
                      <a:xfrm>
                        <a:off x="845997" y="1341562"/>
                        <a:ext cx="11315700" cy="4400550"/>
                      </a:xfrm>
                      <a:prstGeom prst="rect">
                        <a:avLst/>
                      </a:prstGeom>
                    </p:spPr>
                  </p:pic>
                </p:oleObj>
              </mc:Fallback>
            </mc:AlternateContent>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sp>
      <p:grpSp>
        <p:nvGrpSpPr>
          <p:cNvPr id="3" name="Group 3"/>
          <p:cNvGrpSpPr>
            <a:grpSpLocks noChangeAspect="1"/>
          </p:cNvGrpSpPr>
          <p:nvPr/>
        </p:nvGrpSpPr>
        <p:grpSpPr>
          <a:xfrm>
            <a:off x="155352" y="-409644"/>
            <a:ext cx="2203894" cy="2203894"/>
            <a:chOff x="0" y="0"/>
            <a:chExt cx="2938525" cy="2938525"/>
          </a:xfrm>
        </p:grpSpPr>
        <p:sp>
          <p:nvSpPr>
            <p:cNvPr id="4" name="Freeform 4"/>
            <p:cNvSpPr/>
            <p:nvPr/>
          </p:nvSpPr>
          <p:spPr>
            <a:xfrm>
              <a:off x="0" y="0"/>
              <a:ext cx="2938526" cy="2938526"/>
            </a:xfrm>
            <a:custGeom>
              <a:avLst/>
              <a:gdLst/>
              <a:ahLst/>
              <a:cxnLst/>
              <a:rect l="l" t="t" r="r" b="b"/>
              <a:pathLst>
                <a:path w="2938526" h="2938526">
                  <a:moveTo>
                    <a:pt x="0" y="0"/>
                  </a:moveTo>
                  <a:lnTo>
                    <a:pt x="2938526" y="0"/>
                  </a:lnTo>
                  <a:lnTo>
                    <a:pt x="2938526" y="2938526"/>
                  </a:lnTo>
                  <a:lnTo>
                    <a:pt x="0" y="2938526"/>
                  </a:lnTo>
                  <a:lnTo>
                    <a:pt x="0" y="0"/>
                  </a:lnTo>
                  <a:close/>
                </a:path>
              </a:pathLst>
            </a:custGeom>
            <a:blipFill>
              <a:blip r:embed="rId4"/>
              <a:stretch>
                <a:fillRect/>
              </a:stretch>
            </a:blipFill>
          </p:spPr>
        </p:sp>
      </p:grpSp>
      <p:grpSp>
        <p:nvGrpSpPr>
          <p:cNvPr id="5" name="Group 5"/>
          <p:cNvGrpSpPr>
            <a:grpSpLocks noChangeAspect="1"/>
          </p:cNvGrpSpPr>
          <p:nvPr/>
        </p:nvGrpSpPr>
        <p:grpSpPr>
          <a:xfrm>
            <a:off x="15683212" y="140336"/>
            <a:ext cx="2486026" cy="1085850"/>
            <a:chOff x="0" y="0"/>
            <a:chExt cx="3314701" cy="1447800"/>
          </a:xfrm>
        </p:grpSpPr>
        <p:sp>
          <p:nvSpPr>
            <p:cNvPr id="6" name="Freeform 6"/>
            <p:cNvSpPr/>
            <p:nvPr/>
          </p:nvSpPr>
          <p:spPr>
            <a:xfrm>
              <a:off x="0" y="0"/>
              <a:ext cx="3314700" cy="1447800"/>
            </a:xfrm>
            <a:custGeom>
              <a:avLst/>
              <a:gdLst/>
              <a:ahLst/>
              <a:cxnLst/>
              <a:rect l="l" t="t" r="r" b="b"/>
              <a:pathLst>
                <a:path w="3314700" h="1447800">
                  <a:moveTo>
                    <a:pt x="0" y="0"/>
                  </a:moveTo>
                  <a:lnTo>
                    <a:pt x="3314700" y="0"/>
                  </a:lnTo>
                  <a:lnTo>
                    <a:pt x="3314700" y="1447800"/>
                  </a:lnTo>
                  <a:lnTo>
                    <a:pt x="0" y="1447800"/>
                  </a:lnTo>
                  <a:lnTo>
                    <a:pt x="0" y="0"/>
                  </a:lnTo>
                  <a:close/>
                </a:path>
              </a:pathLst>
            </a:custGeom>
            <a:blipFill>
              <a:blip r:embed="rId5"/>
              <a:stretch>
                <a:fillRect/>
              </a:stretch>
            </a:blipFill>
          </p:spPr>
        </p:sp>
      </p:grpSp>
      <p:grpSp>
        <p:nvGrpSpPr>
          <p:cNvPr id="7" name="Group 7"/>
          <p:cNvGrpSpPr/>
          <p:nvPr/>
        </p:nvGrpSpPr>
        <p:grpSpPr>
          <a:xfrm>
            <a:off x="2670196" y="143026"/>
            <a:ext cx="62400" cy="1056000"/>
            <a:chOff x="0" y="0"/>
            <a:chExt cx="83200" cy="1408000"/>
          </a:xfrm>
        </p:grpSpPr>
        <p:sp>
          <p:nvSpPr>
            <p:cNvPr id="8" name="Freeform 8"/>
            <p:cNvSpPr/>
            <p:nvPr/>
          </p:nvSpPr>
          <p:spPr>
            <a:xfrm>
              <a:off x="0" y="0"/>
              <a:ext cx="83185" cy="1408049"/>
            </a:xfrm>
            <a:custGeom>
              <a:avLst/>
              <a:gdLst/>
              <a:ahLst/>
              <a:cxnLst/>
              <a:rect l="l" t="t" r="r" b="b"/>
              <a:pathLst>
                <a:path w="83185" h="1408049">
                  <a:moveTo>
                    <a:pt x="0" y="0"/>
                  </a:moveTo>
                  <a:lnTo>
                    <a:pt x="83185" y="0"/>
                  </a:lnTo>
                  <a:lnTo>
                    <a:pt x="83185" y="1408049"/>
                  </a:lnTo>
                  <a:lnTo>
                    <a:pt x="0" y="1408049"/>
                  </a:lnTo>
                  <a:close/>
                </a:path>
              </a:pathLst>
            </a:custGeom>
            <a:solidFill>
              <a:srgbClr val="F5A700"/>
            </a:solidFill>
          </p:spPr>
        </p:sp>
      </p:grpSp>
      <p:grpSp>
        <p:nvGrpSpPr>
          <p:cNvPr id="9" name="Group 9"/>
          <p:cNvGrpSpPr/>
          <p:nvPr/>
        </p:nvGrpSpPr>
        <p:grpSpPr>
          <a:xfrm>
            <a:off x="2937174" y="690647"/>
            <a:ext cx="625800" cy="321600"/>
            <a:chOff x="0" y="0"/>
            <a:chExt cx="834400" cy="428800"/>
          </a:xfrm>
        </p:grpSpPr>
        <p:sp>
          <p:nvSpPr>
            <p:cNvPr id="10" name="Freeform 10"/>
            <p:cNvSpPr/>
            <p:nvPr/>
          </p:nvSpPr>
          <p:spPr>
            <a:xfrm>
              <a:off x="0" y="0"/>
              <a:ext cx="834390" cy="428752"/>
            </a:xfrm>
            <a:custGeom>
              <a:avLst/>
              <a:gdLst/>
              <a:ahLst/>
              <a:cxnLst/>
              <a:rect l="l" t="t" r="r" b="b"/>
              <a:pathLst>
                <a:path w="834390" h="428752">
                  <a:moveTo>
                    <a:pt x="0" y="0"/>
                  </a:moveTo>
                  <a:lnTo>
                    <a:pt x="575310" y="0"/>
                  </a:lnTo>
                  <a:lnTo>
                    <a:pt x="834390" y="214376"/>
                  </a:lnTo>
                  <a:lnTo>
                    <a:pt x="575310" y="428752"/>
                  </a:lnTo>
                  <a:lnTo>
                    <a:pt x="0" y="428752"/>
                  </a:lnTo>
                  <a:close/>
                </a:path>
              </a:pathLst>
            </a:custGeom>
            <a:solidFill>
              <a:srgbClr val="0033CC"/>
            </a:solidFill>
          </p:spPr>
        </p:sp>
      </p:grpSp>
      <p:grpSp>
        <p:nvGrpSpPr>
          <p:cNvPr id="11" name="Group 11"/>
          <p:cNvGrpSpPr/>
          <p:nvPr/>
        </p:nvGrpSpPr>
        <p:grpSpPr>
          <a:xfrm>
            <a:off x="412188" y="1469111"/>
            <a:ext cx="12291000" cy="650279"/>
            <a:chOff x="0" y="0"/>
            <a:chExt cx="16388000" cy="867038"/>
          </a:xfrm>
        </p:grpSpPr>
        <p:sp>
          <p:nvSpPr>
            <p:cNvPr id="12" name="Freeform 12"/>
            <p:cNvSpPr/>
            <p:nvPr/>
          </p:nvSpPr>
          <p:spPr>
            <a:xfrm>
              <a:off x="0" y="0"/>
              <a:ext cx="16388000" cy="867038"/>
            </a:xfrm>
            <a:custGeom>
              <a:avLst/>
              <a:gdLst/>
              <a:ahLst/>
              <a:cxnLst/>
              <a:rect l="l" t="t" r="r" b="b"/>
              <a:pathLst>
                <a:path w="16388000" h="867038">
                  <a:moveTo>
                    <a:pt x="0" y="0"/>
                  </a:moveTo>
                  <a:lnTo>
                    <a:pt x="16388000" y="0"/>
                  </a:lnTo>
                  <a:lnTo>
                    <a:pt x="16388000" y="867038"/>
                  </a:lnTo>
                  <a:lnTo>
                    <a:pt x="0" y="867038"/>
                  </a:lnTo>
                  <a:close/>
                </a:path>
              </a:pathLst>
            </a:custGeom>
            <a:solidFill>
              <a:srgbClr val="000000">
                <a:alpha val="0"/>
              </a:srgbClr>
            </a:solidFill>
          </p:spPr>
        </p:sp>
        <p:sp>
          <p:nvSpPr>
            <p:cNvPr id="13" name="TextBox 13"/>
            <p:cNvSpPr txBox="1"/>
            <p:nvPr/>
          </p:nvSpPr>
          <p:spPr>
            <a:xfrm>
              <a:off x="0" y="28575"/>
              <a:ext cx="16388000" cy="838463"/>
            </a:xfrm>
            <a:prstGeom prst="rect">
              <a:avLst/>
            </a:prstGeom>
          </p:spPr>
          <p:txBody>
            <a:bodyPr lIns="0" tIns="0" rIns="0" bIns="0" rtlCol="0" anchor="ctr"/>
            <a:lstStyle/>
            <a:p>
              <a:pPr algn="l">
                <a:lnSpc>
                  <a:spcPts val="3672"/>
                </a:lnSpc>
              </a:pPr>
              <a:r>
                <a:rPr lang="en-US" sz="3400">
                  <a:solidFill>
                    <a:srgbClr val="FF9900"/>
                  </a:solidFill>
                  <a:latin typeface="Roboto"/>
                  <a:ea typeface="Roboto"/>
                  <a:cs typeface="Roboto"/>
                  <a:sym typeface="Roboto"/>
                </a:rPr>
                <a:t>Tình trạng tổng thể các Test Case</a:t>
              </a:r>
            </a:p>
          </p:txBody>
        </p:sp>
      </p:grpSp>
      <p:sp>
        <p:nvSpPr>
          <p:cNvPr id="14" name="Freeform 14"/>
          <p:cNvSpPr/>
          <p:nvPr/>
        </p:nvSpPr>
        <p:spPr>
          <a:xfrm>
            <a:off x="2028642" y="2386089"/>
            <a:ext cx="14230715" cy="5971637"/>
          </a:xfrm>
          <a:custGeom>
            <a:avLst/>
            <a:gdLst/>
            <a:ahLst/>
            <a:cxnLst/>
            <a:rect l="l" t="t" r="r" b="b"/>
            <a:pathLst>
              <a:path w="14230715" h="5971637">
                <a:moveTo>
                  <a:pt x="0" y="0"/>
                </a:moveTo>
                <a:lnTo>
                  <a:pt x="14230716" y="0"/>
                </a:lnTo>
                <a:lnTo>
                  <a:pt x="14230716" y="5971638"/>
                </a:lnTo>
                <a:lnTo>
                  <a:pt x="0" y="5971638"/>
                </a:lnTo>
                <a:lnTo>
                  <a:pt x="0" y="0"/>
                </a:lnTo>
                <a:close/>
              </a:path>
            </a:pathLst>
          </a:custGeom>
          <a:blipFill>
            <a:blip r:embed="rId6"/>
            <a:stretch>
              <a:fillRect/>
            </a:stretch>
          </a:blipFill>
        </p:spPr>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sp>
      <p:grpSp>
        <p:nvGrpSpPr>
          <p:cNvPr id="3" name="Group 3"/>
          <p:cNvGrpSpPr>
            <a:grpSpLocks noChangeAspect="1"/>
          </p:cNvGrpSpPr>
          <p:nvPr/>
        </p:nvGrpSpPr>
        <p:grpSpPr>
          <a:xfrm>
            <a:off x="155352" y="-409644"/>
            <a:ext cx="2203894" cy="2203894"/>
            <a:chOff x="0" y="0"/>
            <a:chExt cx="2938525" cy="2938525"/>
          </a:xfrm>
        </p:grpSpPr>
        <p:sp>
          <p:nvSpPr>
            <p:cNvPr id="4" name="Freeform 4"/>
            <p:cNvSpPr/>
            <p:nvPr/>
          </p:nvSpPr>
          <p:spPr>
            <a:xfrm>
              <a:off x="0" y="0"/>
              <a:ext cx="2938526" cy="2938526"/>
            </a:xfrm>
            <a:custGeom>
              <a:avLst/>
              <a:gdLst/>
              <a:ahLst/>
              <a:cxnLst/>
              <a:rect l="l" t="t" r="r" b="b"/>
              <a:pathLst>
                <a:path w="2938526" h="2938526">
                  <a:moveTo>
                    <a:pt x="0" y="0"/>
                  </a:moveTo>
                  <a:lnTo>
                    <a:pt x="2938526" y="0"/>
                  </a:lnTo>
                  <a:lnTo>
                    <a:pt x="2938526" y="2938526"/>
                  </a:lnTo>
                  <a:lnTo>
                    <a:pt x="0" y="2938526"/>
                  </a:lnTo>
                  <a:lnTo>
                    <a:pt x="0" y="0"/>
                  </a:lnTo>
                  <a:close/>
                </a:path>
              </a:pathLst>
            </a:custGeom>
            <a:blipFill>
              <a:blip r:embed="rId4"/>
              <a:stretch>
                <a:fillRect/>
              </a:stretch>
            </a:blipFill>
          </p:spPr>
        </p:sp>
      </p:grpSp>
      <p:grpSp>
        <p:nvGrpSpPr>
          <p:cNvPr id="5" name="Group 5"/>
          <p:cNvGrpSpPr>
            <a:grpSpLocks noChangeAspect="1"/>
          </p:cNvGrpSpPr>
          <p:nvPr/>
        </p:nvGrpSpPr>
        <p:grpSpPr>
          <a:xfrm>
            <a:off x="15683212" y="140336"/>
            <a:ext cx="2486026" cy="1085850"/>
            <a:chOff x="0" y="0"/>
            <a:chExt cx="3314701" cy="1447800"/>
          </a:xfrm>
        </p:grpSpPr>
        <p:sp>
          <p:nvSpPr>
            <p:cNvPr id="6" name="Freeform 6"/>
            <p:cNvSpPr/>
            <p:nvPr/>
          </p:nvSpPr>
          <p:spPr>
            <a:xfrm>
              <a:off x="0" y="0"/>
              <a:ext cx="3314700" cy="1447800"/>
            </a:xfrm>
            <a:custGeom>
              <a:avLst/>
              <a:gdLst/>
              <a:ahLst/>
              <a:cxnLst/>
              <a:rect l="l" t="t" r="r" b="b"/>
              <a:pathLst>
                <a:path w="3314700" h="1447800">
                  <a:moveTo>
                    <a:pt x="0" y="0"/>
                  </a:moveTo>
                  <a:lnTo>
                    <a:pt x="3314700" y="0"/>
                  </a:lnTo>
                  <a:lnTo>
                    <a:pt x="3314700" y="1447800"/>
                  </a:lnTo>
                  <a:lnTo>
                    <a:pt x="0" y="1447800"/>
                  </a:lnTo>
                  <a:lnTo>
                    <a:pt x="0" y="0"/>
                  </a:lnTo>
                  <a:close/>
                </a:path>
              </a:pathLst>
            </a:custGeom>
            <a:blipFill>
              <a:blip r:embed="rId5"/>
              <a:stretch>
                <a:fillRect/>
              </a:stretch>
            </a:blipFill>
          </p:spPr>
        </p:sp>
      </p:grpSp>
      <p:grpSp>
        <p:nvGrpSpPr>
          <p:cNvPr id="7" name="Group 7"/>
          <p:cNvGrpSpPr/>
          <p:nvPr/>
        </p:nvGrpSpPr>
        <p:grpSpPr>
          <a:xfrm>
            <a:off x="2670196" y="143026"/>
            <a:ext cx="62400" cy="1056000"/>
            <a:chOff x="0" y="0"/>
            <a:chExt cx="83200" cy="1408000"/>
          </a:xfrm>
        </p:grpSpPr>
        <p:sp>
          <p:nvSpPr>
            <p:cNvPr id="8" name="Freeform 8"/>
            <p:cNvSpPr/>
            <p:nvPr/>
          </p:nvSpPr>
          <p:spPr>
            <a:xfrm>
              <a:off x="0" y="0"/>
              <a:ext cx="83185" cy="1408049"/>
            </a:xfrm>
            <a:custGeom>
              <a:avLst/>
              <a:gdLst/>
              <a:ahLst/>
              <a:cxnLst/>
              <a:rect l="l" t="t" r="r" b="b"/>
              <a:pathLst>
                <a:path w="83185" h="1408049">
                  <a:moveTo>
                    <a:pt x="0" y="0"/>
                  </a:moveTo>
                  <a:lnTo>
                    <a:pt x="83185" y="0"/>
                  </a:lnTo>
                  <a:lnTo>
                    <a:pt x="83185" y="1408049"/>
                  </a:lnTo>
                  <a:lnTo>
                    <a:pt x="0" y="1408049"/>
                  </a:lnTo>
                  <a:close/>
                </a:path>
              </a:pathLst>
            </a:custGeom>
            <a:solidFill>
              <a:srgbClr val="F5A700"/>
            </a:solidFill>
          </p:spPr>
        </p:sp>
      </p:grpSp>
      <p:grpSp>
        <p:nvGrpSpPr>
          <p:cNvPr id="9" name="Group 9"/>
          <p:cNvGrpSpPr/>
          <p:nvPr/>
        </p:nvGrpSpPr>
        <p:grpSpPr>
          <a:xfrm>
            <a:off x="2937174" y="690647"/>
            <a:ext cx="625800" cy="321600"/>
            <a:chOff x="0" y="0"/>
            <a:chExt cx="834400" cy="428800"/>
          </a:xfrm>
        </p:grpSpPr>
        <p:sp>
          <p:nvSpPr>
            <p:cNvPr id="10" name="Freeform 10"/>
            <p:cNvSpPr/>
            <p:nvPr/>
          </p:nvSpPr>
          <p:spPr>
            <a:xfrm>
              <a:off x="0" y="0"/>
              <a:ext cx="834390" cy="428752"/>
            </a:xfrm>
            <a:custGeom>
              <a:avLst/>
              <a:gdLst/>
              <a:ahLst/>
              <a:cxnLst/>
              <a:rect l="l" t="t" r="r" b="b"/>
              <a:pathLst>
                <a:path w="834390" h="428752">
                  <a:moveTo>
                    <a:pt x="0" y="0"/>
                  </a:moveTo>
                  <a:lnTo>
                    <a:pt x="575310" y="0"/>
                  </a:lnTo>
                  <a:lnTo>
                    <a:pt x="834390" y="214376"/>
                  </a:lnTo>
                  <a:lnTo>
                    <a:pt x="575310" y="428752"/>
                  </a:lnTo>
                  <a:lnTo>
                    <a:pt x="0" y="428752"/>
                  </a:lnTo>
                  <a:close/>
                </a:path>
              </a:pathLst>
            </a:custGeom>
            <a:solidFill>
              <a:srgbClr val="0033CC"/>
            </a:solidFill>
          </p:spPr>
        </p:sp>
      </p:grpSp>
      <p:grpSp>
        <p:nvGrpSpPr>
          <p:cNvPr id="11" name="Group 11"/>
          <p:cNvGrpSpPr/>
          <p:nvPr/>
        </p:nvGrpSpPr>
        <p:grpSpPr>
          <a:xfrm>
            <a:off x="3762999" y="500116"/>
            <a:ext cx="12291000" cy="650279"/>
            <a:chOff x="0" y="0"/>
            <a:chExt cx="16388000" cy="867038"/>
          </a:xfrm>
        </p:grpSpPr>
        <p:sp>
          <p:nvSpPr>
            <p:cNvPr id="12" name="Freeform 12"/>
            <p:cNvSpPr/>
            <p:nvPr/>
          </p:nvSpPr>
          <p:spPr>
            <a:xfrm>
              <a:off x="0" y="0"/>
              <a:ext cx="16388000" cy="867038"/>
            </a:xfrm>
            <a:custGeom>
              <a:avLst/>
              <a:gdLst/>
              <a:ahLst/>
              <a:cxnLst/>
              <a:rect l="l" t="t" r="r" b="b"/>
              <a:pathLst>
                <a:path w="16388000" h="867038">
                  <a:moveTo>
                    <a:pt x="0" y="0"/>
                  </a:moveTo>
                  <a:lnTo>
                    <a:pt x="16388000" y="0"/>
                  </a:lnTo>
                  <a:lnTo>
                    <a:pt x="16388000" y="867038"/>
                  </a:lnTo>
                  <a:lnTo>
                    <a:pt x="0" y="867038"/>
                  </a:lnTo>
                  <a:close/>
                </a:path>
              </a:pathLst>
            </a:custGeom>
            <a:solidFill>
              <a:srgbClr val="000000">
                <a:alpha val="0"/>
              </a:srgbClr>
            </a:solidFill>
          </p:spPr>
        </p:sp>
        <p:sp>
          <p:nvSpPr>
            <p:cNvPr id="13" name="TextBox 13"/>
            <p:cNvSpPr txBox="1"/>
            <p:nvPr/>
          </p:nvSpPr>
          <p:spPr>
            <a:xfrm>
              <a:off x="0" y="28575"/>
              <a:ext cx="16388000" cy="838463"/>
            </a:xfrm>
            <a:prstGeom prst="rect">
              <a:avLst/>
            </a:prstGeom>
          </p:spPr>
          <p:txBody>
            <a:bodyPr lIns="0" tIns="0" rIns="0" bIns="0" rtlCol="0" anchor="ctr"/>
            <a:lstStyle/>
            <a:p>
              <a:pPr algn="l">
                <a:lnSpc>
                  <a:spcPts val="3672"/>
                </a:lnSpc>
              </a:pPr>
              <a:r>
                <a:rPr lang="en-US" sz="3400">
                  <a:solidFill>
                    <a:srgbClr val="FF9900"/>
                  </a:solidFill>
                  <a:latin typeface="Roboto"/>
                  <a:ea typeface="Roboto"/>
                  <a:cs typeface="Roboto"/>
                  <a:sym typeface="Roboto"/>
                </a:rPr>
                <a:t>Khuyến nghị và ưu tiên</a:t>
              </a:r>
            </a:p>
          </p:txBody>
        </p:sp>
      </p:grpSp>
      <p:graphicFrame>
        <p:nvGraphicFramePr>
          <p:cNvPr id="14" name="Object 14"/>
          <p:cNvGraphicFramePr/>
          <p:nvPr/>
        </p:nvGraphicFramePr>
        <p:xfrm>
          <a:off x="376183" y="1453927"/>
          <a:ext cx="9429750" cy="4400550"/>
        </p:xfrm>
        <a:graphic>
          <a:graphicData uri="http://schemas.openxmlformats.org/presentationml/2006/ole">
            <mc:AlternateContent xmlns:mc="http://schemas.openxmlformats.org/markup-compatibility/2006">
              <mc:Choice xmlns:v="urn:schemas-microsoft-com:vml" Requires="v">
                <p:oleObj name="Worksheet" r:id="rId6" imgW="11315700" imgH="6286500" progId="Excel.Sheet.12">
                  <p:embed/>
                </p:oleObj>
              </mc:Choice>
              <mc:Fallback>
                <p:oleObj name="Worksheet" r:id="rId6" imgW="11315700" imgH="6286500" progId="Excel.Sheet.12">
                  <p:embed/>
                  <p:pic>
                    <p:nvPicPr>
                      <p:cNvPr id="0" name=""/>
                      <p:cNvPicPr/>
                      <p:nvPr/>
                    </p:nvPicPr>
                    <p:blipFill>
                      <a:blip r:embed="rId7"/>
                      <a:stretch>
                        <a:fillRect/>
                      </a:stretch>
                    </p:blipFill>
                    <p:spPr>
                      <a:xfrm>
                        <a:off x="376183" y="1453927"/>
                        <a:ext cx="9429750" cy="4400550"/>
                      </a:xfrm>
                      <a:prstGeom prst="rect">
                        <a:avLst/>
                      </a:prstGeom>
                    </p:spPr>
                  </p:pic>
                </p:oleObj>
              </mc:Fallback>
            </mc:AlternateContent>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sp>
      <p:grpSp>
        <p:nvGrpSpPr>
          <p:cNvPr id="3" name="Group 3"/>
          <p:cNvGrpSpPr>
            <a:grpSpLocks noChangeAspect="1"/>
          </p:cNvGrpSpPr>
          <p:nvPr/>
        </p:nvGrpSpPr>
        <p:grpSpPr>
          <a:xfrm>
            <a:off x="155352" y="-409644"/>
            <a:ext cx="2203894" cy="2203894"/>
            <a:chOff x="0" y="0"/>
            <a:chExt cx="2938525" cy="2938525"/>
          </a:xfrm>
        </p:grpSpPr>
        <p:sp>
          <p:nvSpPr>
            <p:cNvPr id="4" name="Freeform 4"/>
            <p:cNvSpPr/>
            <p:nvPr/>
          </p:nvSpPr>
          <p:spPr>
            <a:xfrm>
              <a:off x="0" y="0"/>
              <a:ext cx="2938526" cy="2938526"/>
            </a:xfrm>
            <a:custGeom>
              <a:avLst/>
              <a:gdLst/>
              <a:ahLst/>
              <a:cxnLst/>
              <a:rect l="l" t="t" r="r" b="b"/>
              <a:pathLst>
                <a:path w="2938526" h="2938526">
                  <a:moveTo>
                    <a:pt x="0" y="0"/>
                  </a:moveTo>
                  <a:lnTo>
                    <a:pt x="2938526" y="0"/>
                  </a:lnTo>
                  <a:lnTo>
                    <a:pt x="2938526" y="2938526"/>
                  </a:lnTo>
                  <a:lnTo>
                    <a:pt x="0" y="2938526"/>
                  </a:lnTo>
                  <a:lnTo>
                    <a:pt x="0" y="0"/>
                  </a:lnTo>
                  <a:close/>
                </a:path>
              </a:pathLst>
            </a:custGeom>
            <a:blipFill>
              <a:blip r:embed="rId4"/>
              <a:stretch>
                <a:fillRect/>
              </a:stretch>
            </a:blipFill>
          </p:spPr>
        </p:sp>
      </p:grpSp>
      <p:grpSp>
        <p:nvGrpSpPr>
          <p:cNvPr id="5" name="Group 5"/>
          <p:cNvGrpSpPr>
            <a:grpSpLocks noChangeAspect="1"/>
          </p:cNvGrpSpPr>
          <p:nvPr/>
        </p:nvGrpSpPr>
        <p:grpSpPr>
          <a:xfrm>
            <a:off x="15683212" y="140336"/>
            <a:ext cx="2486026" cy="1085850"/>
            <a:chOff x="0" y="0"/>
            <a:chExt cx="3314701" cy="1447800"/>
          </a:xfrm>
        </p:grpSpPr>
        <p:sp>
          <p:nvSpPr>
            <p:cNvPr id="6" name="Freeform 6"/>
            <p:cNvSpPr/>
            <p:nvPr/>
          </p:nvSpPr>
          <p:spPr>
            <a:xfrm>
              <a:off x="0" y="0"/>
              <a:ext cx="3314700" cy="1447800"/>
            </a:xfrm>
            <a:custGeom>
              <a:avLst/>
              <a:gdLst/>
              <a:ahLst/>
              <a:cxnLst/>
              <a:rect l="l" t="t" r="r" b="b"/>
              <a:pathLst>
                <a:path w="3314700" h="1447800">
                  <a:moveTo>
                    <a:pt x="0" y="0"/>
                  </a:moveTo>
                  <a:lnTo>
                    <a:pt x="3314700" y="0"/>
                  </a:lnTo>
                  <a:lnTo>
                    <a:pt x="3314700" y="1447800"/>
                  </a:lnTo>
                  <a:lnTo>
                    <a:pt x="0" y="1447800"/>
                  </a:lnTo>
                  <a:lnTo>
                    <a:pt x="0" y="0"/>
                  </a:lnTo>
                  <a:close/>
                </a:path>
              </a:pathLst>
            </a:custGeom>
            <a:blipFill>
              <a:blip r:embed="rId5"/>
              <a:stretch>
                <a:fillRect/>
              </a:stretch>
            </a:blipFill>
          </p:spPr>
        </p:sp>
      </p:grpSp>
      <p:grpSp>
        <p:nvGrpSpPr>
          <p:cNvPr id="7" name="Group 7"/>
          <p:cNvGrpSpPr/>
          <p:nvPr/>
        </p:nvGrpSpPr>
        <p:grpSpPr>
          <a:xfrm>
            <a:off x="2670196" y="143026"/>
            <a:ext cx="62400" cy="1056000"/>
            <a:chOff x="0" y="0"/>
            <a:chExt cx="83200" cy="1408000"/>
          </a:xfrm>
        </p:grpSpPr>
        <p:sp>
          <p:nvSpPr>
            <p:cNvPr id="8" name="Freeform 8"/>
            <p:cNvSpPr/>
            <p:nvPr/>
          </p:nvSpPr>
          <p:spPr>
            <a:xfrm>
              <a:off x="0" y="0"/>
              <a:ext cx="83185" cy="1408049"/>
            </a:xfrm>
            <a:custGeom>
              <a:avLst/>
              <a:gdLst/>
              <a:ahLst/>
              <a:cxnLst/>
              <a:rect l="l" t="t" r="r" b="b"/>
              <a:pathLst>
                <a:path w="83185" h="1408049">
                  <a:moveTo>
                    <a:pt x="0" y="0"/>
                  </a:moveTo>
                  <a:lnTo>
                    <a:pt x="83185" y="0"/>
                  </a:lnTo>
                  <a:lnTo>
                    <a:pt x="83185" y="1408049"/>
                  </a:lnTo>
                  <a:lnTo>
                    <a:pt x="0" y="1408049"/>
                  </a:lnTo>
                  <a:close/>
                </a:path>
              </a:pathLst>
            </a:custGeom>
            <a:solidFill>
              <a:srgbClr val="F5A700"/>
            </a:solidFill>
          </p:spPr>
        </p:sp>
      </p:grpSp>
      <p:grpSp>
        <p:nvGrpSpPr>
          <p:cNvPr id="9" name="Group 9"/>
          <p:cNvGrpSpPr/>
          <p:nvPr/>
        </p:nvGrpSpPr>
        <p:grpSpPr>
          <a:xfrm>
            <a:off x="2937174" y="690647"/>
            <a:ext cx="625800" cy="321600"/>
            <a:chOff x="0" y="0"/>
            <a:chExt cx="834400" cy="428800"/>
          </a:xfrm>
        </p:grpSpPr>
        <p:sp>
          <p:nvSpPr>
            <p:cNvPr id="10" name="Freeform 10"/>
            <p:cNvSpPr/>
            <p:nvPr/>
          </p:nvSpPr>
          <p:spPr>
            <a:xfrm>
              <a:off x="0" y="0"/>
              <a:ext cx="834390" cy="428752"/>
            </a:xfrm>
            <a:custGeom>
              <a:avLst/>
              <a:gdLst/>
              <a:ahLst/>
              <a:cxnLst/>
              <a:rect l="l" t="t" r="r" b="b"/>
              <a:pathLst>
                <a:path w="834390" h="428752">
                  <a:moveTo>
                    <a:pt x="0" y="0"/>
                  </a:moveTo>
                  <a:lnTo>
                    <a:pt x="575310" y="0"/>
                  </a:lnTo>
                  <a:lnTo>
                    <a:pt x="834390" y="214376"/>
                  </a:lnTo>
                  <a:lnTo>
                    <a:pt x="575310" y="428752"/>
                  </a:lnTo>
                  <a:lnTo>
                    <a:pt x="0" y="428752"/>
                  </a:lnTo>
                  <a:close/>
                </a:path>
              </a:pathLst>
            </a:custGeom>
            <a:solidFill>
              <a:srgbClr val="0033CC"/>
            </a:solidFill>
          </p:spPr>
        </p:sp>
      </p:grpSp>
      <p:grpSp>
        <p:nvGrpSpPr>
          <p:cNvPr id="11" name="Group 11"/>
          <p:cNvGrpSpPr/>
          <p:nvPr/>
        </p:nvGrpSpPr>
        <p:grpSpPr>
          <a:xfrm>
            <a:off x="3762999" y="500116"/>
            <a:ext cx="12291000" cy="650279"/>
            <a:chOff x="0" y="0"/>
            <a:chExt cx="16388000" cy="867038"/>
          </a:xfrm>
        </p:grpSpPr>
        <p:sp>
          <p:nvSpPr>
            <p:cNvPr id="12" name="Freeform 12"/>
            <p:cNvSpPr/>
            <p:nvPr/>
          </p:nvSpPr>
          <p:spPr>
            <a:xfrm>
              <a:off x="0" y="0"/>
              <a:ext cx="16388000" cy="867038"/>
            </a:xfrm>
            <a:custGeom>
              <a:avLst/>
              <a:gdLst/>
              <a:ahLst/>
              <a:cxnLst/>
              <a:rect l="l" t="t" r="r" b="b"/>
              <a:pathLst>
                <a:path w="16388000" h="867038">
                  <a:moveTo>
                    <a:pt x="0" y="0"/>
                  </a:moveTo>
                  <a:lnTo>
                    <a:pt x="16388000" y="0"/>
                  </a:lnTo>
                  <a:lnTo>
                    <a:pt x="16388000" y="867038"/>
                  </a:lnTo>
                  <a:lnTo>
                    <a:pt x="0" y="867038"/>
                  </a:lnTo>
                  <a:close/>
                </a:path>
              </a:pathLst>
            </a:custGeom>
            <a:solidFill>
              <a:srgbClr val="000000">
                <a:alpha val="0"/>
              </a:srgbClr>
            </a:solidFill>
          </p:spPr>
        </p:sp>
        <p:sp>
          <p:nvSpPr>
            <p:cNvPr id="13" name="TextBox 13"/>
            <p:cNvSpPr txBox="1"/>
            <p:nvPr/>
          </p:nvSpPr>
          <p:spPr>
            <a:xfrm>
              <a:off x="0" y="28575"/>
              <a:ext cx="16388000" cy="838463"/>
            </a:xfrm>
            <a:prstGeom prst="rect">
              <a:avLst/>
            </a:prstGeom>
          </p:spPr>
          <p:txBody>
            <a:bodyPr lIns="0" tIns="0" rIns="0" bIns="0" rtlCol="0" anchor="ctr"/>
            <a:lstStyle/>
            <a:p>
              <a:pPr algn="l">
                <a:lnSpc>
                  <a:spcPts val="3672"/>
                </a:lnSpc>
              </a:pPr>
              <a:r>
                <a:rPr lang="en-US" sz="3400">
                  <a:solidFill>
                    <a:srgbClr val="FF9900"/>
                  </a:solidFill>
                  <a:latin typeface="Roboto"/>
                  <a:ea typeface="Roboto"/>
                  <a:cs typeface="Roboto"/>
                  <a:sym typeface="Roboto"/>
                </a:rPr>
                <a:t>Quyết định triển khai</a:t>
              </a:r>
            </a:p>
          </p:txBody>
        </p:sp>
      </p:grpSp>
      <p:graphicFrame>
        <p:nvGraphicFramePr>
          <p:cNvPr id="14" name="Object 14"/>
          <p:cNvGraphicFramePr/>
          <p:nvPr/>
        </p:nvGraphicFramePr>
        <p:xfrm>
          <a:off x="1611775" y="2086827"/>
          <a:ext cx="3771900" cy="3143250"/>
        </p:xfrm>
        <a:graphic>
          <a:graphicData uri="http://schemas.openxmlformats.org/presentationml/2006/ole">
            <mc:AlternateContent xmlns:mc="http://schemas.openxmlformats.org/markup-compatibility/2006">
              <mc:Choice xmlns:v="urn:schemas-microsoft-com:vml" Requires="v">
                <p:oleObj name="Worksheet" r:id="rId6" imgW="4521200" imgH="3886200" progId="Excel.Sheet.12">
                  <p:embed/>
                </p:oleObj>
              </mc:Choice>
              <mc:Fallback>
                <p:oleObj name="Worksheet" r:id="rId6" imgW="4521200" imgH="3886200" progId="Excel.Sheet.12">
                  <p:embed/>
                  <p:pic>
                    <p:nvPicPr>
                      <p:cNvPr id="0" name=""/>
                      <p:cNvPicPr/>
                      <p:nvPr/>
                    </p:nvPicPr>
                    <p:blipFill>
                      <a:blip r:embed="rId7"/>
                      <a:stretch>
                        <a:fillRect/>
                      </a:stretch>
                    </p:blipFill>
                    <p:spPr>
                      <a:xfrm>
                        <a:off x="1611775" y="2086827"/>
                        <a:ext cx="3771900" cy="3143250"/>
                      </a:xfrm>
                      <a:prstGeom prst="rect">
                        <a:avLst/>
                      </a:prstGeom>
                    </p:spPr>
                  </p:pic>
                </p:oleObj>
              </mc:Fallback>
            </mc:AlternateContent>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sp>
      <p:grpSp>
        <p:nvGrpSpPr>
          <p:cNvPr id="3" name="Group 3"/>
          <p:cNvGrpSpPr>
            <a:grpSpLocks noChangeAspect="1"/>
          </p:cNvGrpSpPr>
          <p:nvPr/>
        </p:nvGrpSpPr>
        <p:grpSpPr>
          <a:xfrm>
            <a:off x="155352" y="-409644"/>
            <a:ext cx="2203894" cy="2203894"/>
            <a:chOff x="0" y="0"/>
            <a:chExt cx="2938525" cy="2938525"/>
          </a:xfrm>
        </p:grpSpPr>
        <p:sp>
          <p:nvSpPr>
            <p:cNvPr id="4" name="Freeform 4"/>
            <p:cNvSpPr/>
            <p:nvPr/>
          </p:nvSpPr>
          <p:spPr>
            <a:xfrm>
              <a:off x="0" y="0"/>
              <a:ext cx="2938526" cy="2938526"/>
            </a:xfrm>
            <a:custGeom>
              <a:avLst/>
              <a:gdLst/>
              <a:ahLst/>
              <a:cxnLst/>
              <a:rect l="l" t="t" r="r" b="b"/>
              <a:pathLst>
                <a:path w="2938526" h="2938526">
                  <a:moveTo>
                    <a:pt x="0" y="0"/>
                  </a:moveTo>
                  <a:lnTo>
                    <a:pt x="2938526" y="0"/>
                  </a:lnTo>
                  <a:lnTo>
                    <a:pt x="2938526" y="2938526"/>
                  </a:lnTo>
                  <a:lnTo>
                    <a:pt x="0" y="2938526"/>
                  </a:lnTo>
                  <a:lnTo>
                    <a:pt x="0" y="0"/>
                  </a:lnTo>
                  <a:close/>
                </a:path>
              </a:pathLst>
            </a:custGeom>
            <a:blipFill>
              <a:blip r:embed="rId4"/>
              <a:stretch>
                <a:fillRect/>
              </a:stretch>
            </a:blipFill>
          </p:spPr>
        </p:sp>
      </p:grpSp>
      <p:grpSp>
        <p:nvGrpSpPr>
          <p:cNvPr id="5" name="Group 5"/>
          <p:cNvGrpSpPr>
            <a:grpSpLocks noChangeAspect="1"/>
          </p:cNvGrpSpPr>
          <p:nvPr/>
        </p:nvGrpSpPr>
        <p:grpSpPr>
          <a:xfrm>
            <a:off x="15683212" y="140336"/>
            <a:ext cx="2486026" cy="1085850"/>
            <a:chOff x="0" y="0"/>
            <a:chExt cx="3314701" cy="1447800"/>
          </a:xfrm>
        </p:grpSpPr>
        <p:sp>
          <p:nvSpPr>
            <p:cNvPr id="6" name="Freeform 6"/>
            <p:cNvSpPr/>
            <p:nvPr/>
          </p:nvSpPr>
          <p:spPr>
            <a:xfrm>
              <a:off x="0" y="0"/>
              <a:ext cx="3314700" cy="1447800"/>
            </a:xfrm>
            <a:custGeom>
              <a:avLst/>
              <a:gdLst/>
              <a:ahLst/>
              <a:cxnLst/>
              <a:rect l="l" t="t" r="r" b="b"/>
              <a:pathLst>
                <a:path w="3314700" h="1447800">
                  <a:moveTo>
                    <a:pt x="0" y="0"/>
                  </a:moveTo>
                  <a:lnTo>
                    <a:pt x="3314700" y="0"/>
                  </a:lnTo>
                  <a:lnTo>
                    <a:pt x="3314700" y="1447800"/>
                  </a:lnTo>
                  <a:lnTo>
                    <a:pt x="0" y="1447800"/>
                  </a:lnTo>
                  <a:lnTo>
                    <a:pt x="0" y="0"/>
                  </a:lnTo>
                  <a:close/>
                </a:path>
              </a:pathLst>
            </a:custGeom>
            <a:blipFill>
              <a:blip r:embed="rId5"/>
              <a:stretch>
                <a:fillRect/>
              </a:stretch>
            </a:blipFill>
          </p:spPr>
        </p:sp>
      </p:grpSp>
      <p:grpSp>
        <p:nvGrpSpPr>
          <p:cNvPr id="7" name="Group 7"/>
          <p:cNvGrpSpPr/>
          <p:nvPr/>
        </p:nvGrpSpPr>
        <p:grpSpPr>
          <a:xfrm>
            <a:off x="2670196" y="143026"/>
            <a:ext cx="62400" cy="1056000"/>
            <a:chOff x="0" y="0"/>
            <a:chExt cx="83200" cy="1408000"/>
          </a:xfrm>
        </p:grpSpPr>
        <p:sp>
          <p:nvSpPr>
            <p:cNvPr id="8" name="Freeform 8"/>
            <p:cNvSpPr/>
            <p:nvPr/>
          </p:nvSpPr>
          <p:spPr>
            <a:xfrm>
              <a:off x="0" y="0"/>
              <a:ext cx="83185" cy="1408049"/>
            </a:xfrm>
            <a:custGeom>
              <a:avLst/>
              <a:gdLst/>
              <a:ahLst/>
              <a:cxnLst/>
              <a:rect l="l" t="t" r="r" b="b"/>
              <a:pathLst>
                <a:path w="83185" h="1408049">
                  <a:moveTo>
                    <a:pt x="0" y="0"/>
                  </a:moveTo>
                  <a:lnTo>
                    <a:pt x="83185" y="0"/>
                  </a:lnTo>
                  <a:lnTo>
                    <a:pt x="83185" y="1408049"/>
                  </a:lnTo>
                  <a:lnTo>
                    <a:pt x="0" y="1408049"/>
                  </a:lnTo>
                  <a:close/>
                </a:path>
              </a:pathLst>
            </a:custGeom>
            <a:solidFill>
              <a:srgbClr val="F5A700"/>
            </a:solidFill>
          </p:spPr>
        </p:sp>
      </p:grpSp>
      <p:grpSp>
        <p:nvGrpSpPr>
          <p:cNvPr id="9" name="Group 9"/>
          <p:cNvGrpSpPr/>
          <p:nvPr/>
        </p:nvGrpSpPr>
        <p:grpSpPr>
          <a:xfrm>
            <a:off x="2882476" y="878062"/>
            <a:ext cx="625800" cy="321600"/>
            <a:chOff x="0" y="0"/>
            <a:chExt cx="834400" cy="428800"/>
          </a:xfrm>
        </p:grpSpPr>
        <p:sp>
          <p:nvSpPr>
            <p:cNvPr id="10" name="Freeform 10"/>
            <p:cNvSpPr/>
            <p:nvPr/>
          </p:nvSpPr>
          <p:spPr>
            <a:xfrm>
              <a:off x="0" y="0"/>
              <a:ext cx="834390" cy="428752"/>
            </a:xfrm>
            <a:custGeom>
              <a:avLst/>
              <a:gdLst/>
              <a:ahLst/>
              <a:cxnLst/>
              <a:rect l="l" t="t" r="r" b="b"/>
              <a:pathLst>
                <a:path w="834390" h="428752">
                  <a:moveTo>
                    <a:pt x="0" y="0"/>
                  </a:moveTo>
                  <a:lnTo>
                    <a:pt x="575310" y="0"/>
                  </a:lnTo>
                  <a:lnTo>
                    <a:pt x="834390" y="214376"/>
                  </a:lnTo>
                  <a:lnTo>
                    <a:pt x="575310" y="428752"/>
                  </a:lnTo>
                  <a:lnTo>
                    <a:pt x="0" y="428752"/>
                  </a:lnTo>
                  <a:close/>
                </a:path>
              </a:pathLst>
            </a:custGeom>
            <a:solidFill>
              <a:srgbClr val="0033CC"/>
            </a:solidFill>
          </p:spPr>
        </p:sp>
      </p:grpSp>
      <p:grpSp>
        <p:nvGrpSpPr>
          <p:cNvPr id="11" name="Group 11"/>
          <p:cNvGrpSpPr/>
          <p:nvPr/>
        </p:nvGrpSpPr>
        <p:grpSpPr>
          <a:xfrm>
            <a:off x="3660676" y="683261"/>
            <a:ext cx="12291000" cy="650279"/>
            <a:chOff x="0" y="0"/>
            <a:chExt cx="16388000" cy="867038"/>
          </a:xfrm>
        </p:grpSpPr>
        <p:sp>
          <p:nvSpPr>
            <p:cNvPr id="12" name="Freeform 12"/>
            <p:cNvSpPr/>
            <p:nvPr/>
          </p:nvSpPr>
          <p:spPr>
            <a:xfrm>
              <a:off x="0" y="0"/>
              <a:ext cx="16388000" cy="867038"/>
            </a:xfrm>
            <a:custGeom>
              <a:avLst/>
              <a:gdLst/>
              <a:ahLst/>
              <a:cxnLst/>
              <a:rect l="l" t="t" r="r" b="b"/>
              <a:pathLst>
                <a:path w="16388000" h="867038">
                  <a:moveTo>
                    <a:pt x="0" y="0"/>
                  </a:moveTo>
                  <a:lnTo>
                    <a:pt x="16388000" y="0"/>
                  </a:lnTo>
                  <a:lnTo>
                    <a:pt x="16388000" y="867038"/>
                  </a:lnTo>
                  <a:lnTo>
                    <a:pt x="0" y="867038"/>
                  </a:lnTo>
                  <a:close/>
                </a:path>
              </a:pathLst>
            </a:custGeom>
            <a:solidFill>
              <a:srgbClr val="000000">
                <a:alpha val="0"/>
              </a:srgbClr>
            </a:solidFill>
          </p:spPr>
        </p:sp>
        <p:sp>
          <p:nvSpPr>
            <p:cNvPr id="13" name="TextBox 13"/>
            <p:cNvSpPr txBox="1"/>
            <p:nvPr/>
          </p:nvSpPr>
          <p:spPr>
            <a:xfrm>
              <a:off x="0" y="28575"/>
              <a:ext cx="16388000" cy="838463"/>
            </a:xfrm>
            <a:prstGeom prst="rect">
              <a:avLst/>
            </a:prstGeom>
          </p:spPr>
          <p:txBody>
            <a:bodyPr lIns="0" tIns="0" rIns="0" bIns="0" rtlCol="0" anchor="ctr"/>
            <a:lstStyle/>
            <a:p>
              <a:pPr algn="l">
                <a:lnSpc>
                  <a:spcPts val="3672"/>
                </a:lnSpc>
              </a:pPr>
              <a:r>
                <a:rPr lang="en-US" sz="3400">
                  <a:solidFill>
                    <a:srgbClr val="FF9900"/>
                  </a:solidFill>
                  <a:latin typeface="Roboto"/>
                  <a:ea typeface="Roboto"/>
                  <a:cs typeface="Roboto"/>
                  <a:sym typeface="Roboto"/>
                </a:rPr>
                <a:t>Kết luận</a:t>
              </a:r>
            </a:p>
          </p:txBody>
        </p:sp>
      </p:grpSp>
      <p:sp>
        <p:nvSpPr>
          <p:cNvPr id="14" name="TextBox 14"/>
          <p:cNvSpPr txBox="1"/>
          <p:nvPr/>
        </p:nvSpPr>
        <p:spPr>
          <a:xfrm>
            <a:off x="924224" y="1935979"/>
            <a:ext cx="16002001" cy="2524692"/>
          </a:xfrm>
          <a:prstGeom prst="rect">
            <a:avLst/>
          </a:prstGeom>
        </p:spPr>
        <p:txBody>
          <a:bodyPr lIns="0" tIns="0" rIns="0" bIns="0" rtlCol="0" anchor="t">
            <a:spAutoFit/>
          </a:bodyPr>
          <a:lstStyle/>
          <a:p>
            <a:pPr algn="just">
              <a:lnSpc>
                <a:spcPts val="3999"/>
              </a:lnSpc>
            </a:pPr>
            <a:r>
              <a:rPr lang="en-US" sz="2899">
                <a:solidFill>
                  <a:srgbClr val="1B1C1D"/>
                </a:solidFill>
                <a:latin typeface="Times New Roman"/>
                <a:ea typeface="Times New Roman"/>
                <a:cs typeface="Times New Roman"/>
                <a:sym typeface="Times New Roman"/>
              </a:rPr>
              <a:t>Dự án hiện tại đã hoàn thành một giai đoạn quan trọng trong quá trình phát triển và kiểm thử.</a:t>
            </a:r>
          </a:p>
          <a:p>
            <a:pPr algn="just">
              <a:lnSpc>
                <a:spcPts val="3999"/>
              </a:lnSpc>
            </a:pPr>
            <a:r>
              <a:rPr lang="en-US" sz="2899">
                <a:solidFill>
                  <a:srgbClr val="1B1C1D"/>
                </a:solidFill>
                <a:latin typeface="Times New Roman"/>
                <a:ea typeface="Times New Roman"/>
                <a:cs typeface="Times New Roman"/>
                <a:sym typeface="Times New Roman"/>
              </a:rPr>
              <a:t> Với tổng số 200 test case được triển khai, tỷ lệ pass đạt 97.0%, cho thấy hệ thống hoạt động ổn định và đáp ứng được yêu cầu của người dùng. </a:t>
            </a:r>
          </a:p>
          <a:p>
            <a:pPr algn="just">
              <a:lnSpc>
                <a:spcPts val="4001"/>
              </a:lnSpc>
            </a:pPr>
            <a:r>
              <a:rPr lang="en-US" sz="2900">
                <a:solidFill>
                  <a:srgbClr val="1B1C1D"/>
                </a:solidFill>
                <a:latin typeface="Times New Roman"/>
                <a:ea typeface="Times New Roman"/>
                <a:cs typeface="Times New Roman"/>
                <a:sym typeface="Times New Roman"/>
              </a:rPr>
              <a:t>Các tính năng quan trọng như đăng nhập, quản lý đơn hàng, và quản lý hàng tồn kho đã qua kiểm thử và bên cạnh đó, một số lỗi đã được ghi nhận, cần được khắc phục để cải thiện trải nghiệm người dùng.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835</Words>
  <Application>Microsoft Office PowerPoint</Application>
  <PresentationFormat>Custom</PresentationFormat>
  <Paragraphs>103</Paragraphs>
  <Slides>17</Slides>
  <Notes>17</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17</vt:i4>
      </vt:variant>
    </vt:vector>
  </HeadingPairs>
  <TitlesOfParts>
    <vt:vector size="26" baseType="lpstr">
      <vt:lpstr>Calibri</vt:lpstr>
      <vt:lpstr>Roboto Bold</vt:lpstr>
      <vt:lpstr>Times New Roman</vt:lpstr>
      <vt:lpstr>Roboto</vt:lpstr>
      <vt:lpstr>Arial</vt:lpstr>
      <vt:lpstr>Arial Bold</vt:lpstr>
      <vt:lpstr>Times New Roman Bold</vt:lpstr>
      <vt:lpstr>Office Theme</vt:lpstr>
      <vt:lpstr>Worksheet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Nhóm 5</dc:title>
  <cp:lastModifiedBy>Admin</cp:lastModifiedBy>
  <cp:revision>2</cp:revision>
  <dcterms:created xsi:type="dcterms:W3CDTF">2006-08-16T00:00:00Z</dcterms:created>
  <dcterms:modified xsi:type="dcterms:W3CDTF">2025-11-29T03:55:50Z</dcterms:modified>
  <dc:identifier>DAG4mwKXgF4</dc:identifier>
</cp:coreProperties>
</file>